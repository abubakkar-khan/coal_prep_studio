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7" r:id="rId7"/>
    <p:sldId id="262" r:id="rId8"/>
    <p:sldId id="263" r:id="rId9"/>
    <p:sldId id="261" r:id="rId10"/>
    <p:sldId id="264" r:id="rId11"/>
    <p:sldId id="265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8936-A613-469A-A601-88BA344BD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E14C7-169E-45B1-A96C-7C66A5D04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74F3B-1401-4458-8BDB-AB5BB6AD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E8CF-7AB4-4785-9145-837FF9D5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F7F8-68A5-40F5-8312-A124FA67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359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0F05-6206-4C52-B215-37E9F5CB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1BE4-D2CD-4607-9B72-DE25AA8D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6CF7C-46DB-4088-99B0-C255348E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A0C2-388A-40CB-8832-A3D2953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D971-4F16-4F1D-9525-3715429E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645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0046-218A-431F-B8AB-7F84F4B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D719A-22B6-4643-A389-594592CEB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E6669-90B5-443A-9AF5-EA5E1A6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23C4-353B-4447-8CBF-8E78A405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EB961-4382-4C4E-8593-64DDB41E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597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4A3A-178C-497E-9E61-513B156D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541E-DFF6-4F35-AB34-E8FA6D2A5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2261B-78D3-4EA9-BBCC-60AC1B44E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3FAB4-5AEA-42FC-99FD-D2137ECD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AEF3-713E-40CB-9631-FCB58B2A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01E71-C2B5-477F-9C3F-98E1AE44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52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E84B-7D0D-45AC-B94D-B37B322A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EB08-FE00-47B3-8865-2F782CB7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3BFC5-285F-400C-9218-F856C69A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87643-6397-45C5-BF27-6923DD6CE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BCA24-CDA2-4966-990E-2C6E29591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86BACF-662A-430D-8232-2821F82F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6FFB4-260F-49C1-A942-3601C575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9F86E-4ED8-4288-BDC9-EAFC1CB1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639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F609-B5DC-4BEF-A0E7-0C44A3B5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2A118-2FB7-432A-9F9F-0B8DB92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3BAB-98A1-4D18-83FD-E49691D4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FBD72-737A-4E76-8701-1E7EE60A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55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A4398-042F-402F-A9F0-5956BDC6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F641D-55EA-44A3-95A1-41F1DD72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8FC64-C522-4EB0-A8A2-27460450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008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7C5D-BF9E-4684-AF4D-4EF2D05F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3CC7-CB72-49B7-8340-AF485BA4C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181E1-2B95-4B5F-9E22-C9131557A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49CB9-FC8D-480C-AD9F-8497909D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20296-DB2C-4BB0-956C-F61F41ED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8C9A-6EC3-41A1-8DD9-1FB65D2C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062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4483-29C9-49F1-8F00-08C0BA75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DD458-15D6-49A5-B4AC-802A0F23E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FC939-C573-4DC4-BCAD-744179DAE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35607-1260-4B85-A87B-487F7EE7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9D30-4D55-4100-98AE-84010DDC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4DC4F-A318-4DE4-9F73-B3D45CA8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65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39DB-88B9-4B66-B249-F98F6B29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B61FF-E025-4DE1-8977-B3913C4BE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176C-58FA-4A76-9DF4-F769A716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427F4-3F59-4481-B0D0-E8B8F2C5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001A-E16B-402E-BABB-B047FF8F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895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C386C-08E7-4A75-9746-11BFDDA60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302F5-82CD-4170-BE31-1C71967A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EF91-9462-4045-A73E-0AC0C4F8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74332-B921-4B4B-86C8-6C6C7EA5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AE71-4D4A-4CAA-8D5D-E8292640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25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F788E-6EE2-4640-ACB3-E1031F04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2E27-AE3A-4A40-9768-1D9F4622B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5B7DA-39A7-454C-92AC-BAF3F7AA3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3467D-5182-48FA-B1F9-90774ABF8E13}" type="datetimeFigureOut">
              <a:rPr lang="en-PK" smtClean="0"/>
              <a:t>06/03/2026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324B-42DB-4FE1-9C15-7CDA9EEC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29AC-FDD5-49F2-912A-E0BDA6B0F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76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3A9B-9EC9-4FF3-9C69-742539F24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9141"/>
            <a:ext cx="9144000" cy="2110821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Organization &amp;</a:t>
            </a:r>
            <a:br>
              <a:rPr lang="en-PK" dirty="0"/>
            </a:br>
            <a:r>
              <a:rPr lang="en-US" dirty="0"/>
              <a:t>Assembly Language</a:t>
            </a:r>
            <a:br>
              <a:rPr lang="en-PK" dirty="0"/>
            </a:br>
            <a:br>
              <a:rPr lang="en-US" dirty="0"/>
            </a:b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3881-96C1-4CED-B0E7-4B906B40A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02</a:t>
            </a:r>
          </a:p>
          <a:p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Representation of Numbers and Characters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911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E9D600-78BB-47B1-B115-572AB381DAC7}"/>
              </a:ext>
            </a:extLst>
          </p:cNvPr>
          <p:cNvSpPr/>
          <p:nvPr/>
        </p:nvSpPr>
        <p:spPr>
          <a:xfrm>
            <a:off x="1167789" y="1099213"/>
            <a:ext cx="9474505" cy="30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>
              <a:spcAft>
                <a:spcPts val="0"/>
              </a:spcAft>
            </a:pPr>
            <a:r>
              <a:rPr lang="en-US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BJE</a:t>
            </a:r>
            <a:r>
              <a:rPr lang="en-US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TIVE</a:t>
            </a:r>
            <a:r>
              <a:rPr lang="en-US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PK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ts will c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 to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now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di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fe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 of nu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ber s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ey </a:t>
            </a:r>
            <a:r>
              <a:rPr lang="en-US" sz="2000" spc="-1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 be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ble to p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 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ersion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spc="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en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ey </a:t>
            </a:r>
            <a:r>
              <a:rPr lang="en-US" sz="2000" spc="-1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 learn h</a:t>
            </a:r>
            <a:r>
              <a:rPr lang="en-US" sz="2000" spc="1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</a:t>
            </a:r>
            <a:r>
              <a:rPr lang="en-US" sz="2000" spc="1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 bi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ary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he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000" spc="1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dd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ion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subt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action.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52070" indent="-228600">
              <a:lnSpc>
                <a:spcPct val="150000"/>
              </a:lnSpc>
              <a:spcAft>
                <a:spcPts val="0"/>
              </a:spcAft>
              <a:tabLst>
                <a:tab pos="520700" algn="l"/>
              </a:tabLst>
            </a:pPr>
            <a:r>
              <a:rPr lang="en-US" sz="2000" dirty="0">
                <a:solidFill>
                  <a:srgbClr val="221F1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	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ey</a:t>
            </a:r>
            <a:r>
              <a:rPr lang="en-US" sz="2000" spc="15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</a:t>
            </a:r>
            <a:r>
              <a:rPr lang="en-US" sz="2000" spc="16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6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16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16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idea</a:t>
            </a:r>
            <a:r>
              <a:rPr lang="en-US" sz="2000" spc="15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16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spc="15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</a:t>
            </a:r>
            <a:r>
              <a:rPr lang="en-US" sz="2000" spc="15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15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aracte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15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6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</a:t>
            </a:r>
            <a:r>
              <a:rPr lang="en-US" sz="2000" spc="15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 co</a:t>
            </a:r>
            <a:r>
              <a:rPr lang="en-US" sz="2000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uter.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6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18DF4-9D95-FD2B-74A4-841499577F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554" y="538822"/>
                <a:ext cx="10515600" cy="57803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System Metrics: The Distinction between Speed and Capacity</a:t>
                </a:r>
                <a:br>
                  <a:rPr lang="pt-BR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br>
                  <a:rPr lang="pt-BR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pt-BR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</a:t>
                </a:r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Processor Clock Rate (Base 10 - Decimal)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Unit: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Gigahertz (GHz)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Logic: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Processor speed is calculated using power of 10. (K=10</a:t>
                </a:r>
                <a:r>
                  <a:rPr lang="en-US" sz="1800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,M=10</a:t>
                </a:r>
                <a14:m>
                  <m:oMath xmlns:m="http://schemas.openxmlformats.org/officeDocument/2006/math">
                    <m:r>
                      <a:rPr lang="en-US" sz="1800" baseline="300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6</m:t>
                    </m:r>
                    <m:r>
                      <a:rPr lang="en-US" sz="1800" b="1" i="1" baseline="30000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Example: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2.0 GHz =2 x 10</a:t>
                </a:r>
                <a:r>
                  <a:rPr lang="en-US" sz="1800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9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Hz =2, 000,000,000 cycles per second</a:t>
                </a:r>
              </a:p>
              <a:p>
                <a:pPr marL="0" indent="0">
                  <a:buNone/>
                </a:pPr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Main Memory Capacity (Base 2- Binary 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Unit: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Gigabytes (GB)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Logic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Memory Addressing is calculated using power of 2. (K=2</a:t>
                </a:r>
                <a:r>
                  <a:rPr lang="en-US" sz="1800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10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,M=2</a:t>
                </a:r>
                <a14:m>
                  <m:oMath xmlns:m="http://schemas.openxmlformats.org/officeDocument/2006/math">
                    <m:r>
                      <a:rPr lang="en-US" sz="1800" baseline="300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2</m:t>
                    </m:r>
                    <m:r>
                      <a:rPr lang="en-US" sz="1800" b="0" i="0" baseline="30000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  <m:r>
                      <a:rPr lang="en-US" sz="1800" b="1" i="1" baseline="300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  <a:p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Example: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GB =2 x 2</a:t>
                </a:r>
                <a:r>
                  <a:rPr lang="en-US" sz="1800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30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bytes = 2 x 1024 x 1024 x 1024 =2,147,483,648 bytes</a:t>
                </a:r>
                <a:endParaRPr lang="en-US" sz="18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We can clearly see that decimal Giga is approximately </a:t>
                </a:r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7.37%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smaller than binary Giga.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Q:How much storage is need for 2A6h?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Ans: A value like 2A6h is stored as a 16-bit word occupying 2 bytes of physical Memory.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18DF4-9D95-FD2B-74A4-841499577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554" y="538822"/>
                <a:ext cx="10515600" cy="5780356"/>
              </a:xfrm>
              <a:blipFill>
                <a:blip r:embed="rId2"/>
                <a:stretch>
                  <a:fillRect l="-580" t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25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82F9A-DFF9-4568-A69C-7AA66B30E929}"/>
              </a:ext>
            </a:extLst>
          </p:cNvPr>
          <p:cNvSpPr/>
          <p:nvPr/>
        </p:nvSpPr>
        <p:spPr>
          <a:xfrm>
            <a:off x="1333041" y="1220703"/>
            <a:ext cx="8879595" cy="4447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>
              <a:spcAft>
                <a:spcPts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mber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ys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ems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 comput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use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typ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ms: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 </a:t>
            </a:r>
            <a:r>
              <a:rPr lang="en-US" sz="2000" spc="1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(base10,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0-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9)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115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 </a:t>
            </a:r>
            <a:r>
              <a:rPr lang="en-US" sz="2000" spc="1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Binary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(base 2, 0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90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 </a:t>
            </a:r>
            <a:r>
              <a:rPr lang="en-US" sz="2000" spc="1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Number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(base 16,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0-9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A-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F)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r>
              <a:rPr lang="en-US" sz="2000" b="1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H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8A2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Dh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353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cess: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6215" marR="3280410" algn="ctr">
              <a:spcAft>
                <a:spcPts val="0"/>
              </a:spcAft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8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A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1</a:t>
            </a:r>
            <a:r>
              <a:rPr lang="en-US" sz="2000" spc="-3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D</a:t>
            </a:r>
            <a:r>
              <a:rPr lang="en-US" sz="2000" spc="1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8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spc="-3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1200" spc="15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+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×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16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>
              <a:spcAft>
                <a:spcPts val="0"/>
              </a:spcAft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=</a:t>
            </a:r>
            <a:r>
              <a:rPr lang="en-US" sz="2000" spc="6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3537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d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23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2078AC-1943-4D02-A1D3-6EE43543015D}"/>
              </a:ext>
            </a:extLst>
          </p:cNvPr>
          <p:cNvSpPr/>
          <p:nvPr/>
        </p:nvSpPr>
        <p:spPr>
          <a:xfrm>
            <a:off x="1167786" y="860820"/>
            <a:ext cx="9485523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>
              <a:spcAft>
                <a:spcPts val="0"/>
              </a:spcAft>
            </a:pP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b="1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B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 a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H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ber,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A4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cess: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72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69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×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6+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4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69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=4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×1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+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	  we will write from bottom to top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43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2×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6+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2=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×1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+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Bef>
                <a:spcPts val="300"/>
              </a:spcBef>
              <a:spcAft>
                <a:spcPts val="0"/>
              </a:spcAft>
            </a:pP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B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Binary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111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10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b</a:t>
            </a:r>
            <a:r>
              <a:rPr lang="en-US" sz="2000" spc="1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nu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ber,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3AA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h</a:t>
            </a:r>
          </a:p>
          <a:p>
            <a:pPr marL="63500">
              <a:spcAft>
                <a:spcPts val="0"/>
              </a:spcAft>
            </a:pPr>
            <a:endParaRPr lang="en-US" sz="20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63500">
              <a:spcAft>
                <a:spcPts val="0"/>
              </a:spcAft>
            </a:pP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75225F-B423-4B84-8596-6BA206CE5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091431"/>
              </p:ext>
            </p:extLst>
          </p:nvPr>
        </p:nvGraphicFramePr>
        <p:xfrm>
          <a:off x="1989993" y="5311593"/>
          <a:ext cx="3088782" cy="68558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29356">
                  <a:extLst>
                    <a:ext uri="{9D8B030D-6E8A-4147-A177-3AD203B41FA5}">
                      <a16:colId xmlns:a16="http://schemas.microsoft.com/office/drawing/2014/main" val="3778442680"/>
                    </a:ext>
                  </a:extLst>
                </a:gridCol>
                <a:gridCol w="1030070">
                  <a:extLst>
                    <a:ext uri="{9D8B030D-6E8A-4147-A177-3AD203B41FA5}">
                      <a16:colId xmlns:a16="http://schemas.microsoft.com/office/drawing/2014/main" val="3765086579"/>
                    </a:ext>
                  </a:extLst>
                </a:gridCol>
                <a:gridCol w="1029356">
                  <a:extLst>
                    <a:ext uri="{9D8B030D-6E8A-4147-A177-3AD203B41FA5}">
                      <a16:colId xmlns:a16="http://schemas.microsoft.com/office/drawing/2014/main" val="2136694224"/>
                    </a:ext>
                  </a:extLst>
                </a:gridCol>
              </a:tblGrid>
              <a:tr h="329246">
                <a:tc>
                  <a:txBody>
                    <a:bodyPr/>
                    <a:lstStyle/>
                    <a:p>
                      <a:pPr marL="284480"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84480"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82575"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792764"/>
                  </a:ext>
                </a:extLst>
              </a:tr>
              <a:tr h="356341">
                <a:tc>
                  <a:txBody>
                    <a:bodyPr/>
                    <a:lstStyle/>
                    <a:p>
                      <a:pPr marL="387985" marR="387985" algn="ctr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382270" marR="383540" algn="ctr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380365" marR="384810" algn="ctr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PK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502709"/>
                  </a:ext>
                </a:extLst>
              </a:tr>
            </a:tbl>
          </a:graphicData>
        </a:graphic>
      </p:graphicFrame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1C43DB6-463B-69DA-EC75-7C5E6C444C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52737" y="3032391"/>
            <a:ext cx="1521598" cy="793217"/>
          </a:xfrm>
          <a:prstGeom prst="bentConnector3">
            <a:avLst>
              <a:gd name="adj1" fmla="val 507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99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1739B4-7A98-4192-B027-6CEE8C105FE1}"/>
              </a:ext>
            </a:extLst>
          </p:cNvPr>
          <p:cNvSpPr/>
          <p:nvPr/>
        </p:nvSpPr>
        <p:spPr>
          <a:xfrm>
            <a:off x="621792" y="746791"/>
            <a:ext cx="9278112" cy="5364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b="1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Fractional 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b="1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B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endParaRPr lang="en-PK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endParaRPr lang="en-US" dirty="0">
              <a:solidFill>
                <a:srgbClr val="0A0A0A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endParaRPr lang="en-US" dirty="0">
              <a:solidFill>
                <a:srgbClr val="0A0A0A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decimal number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12.25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converts to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1100.01</a:t>
            </a:r>
            <a:r>
              <a:rPr lang="en-US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 binary.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conversion is performed by splitting the number into its integer and fractional parts.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Aft>
                <a:spcPts val="0"/>
              </a:spcAft>
            </a:pP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Integer Part: 12</a:t>
            </a:r>
            <a:endParaRPr lang="en-PK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convert the integer part, divide by 2 repeatedly and record the remainders: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 ÷ 2 = 6, Remainder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 ÷ 2 = 3, Remainder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÷ 2 = 1, Remainder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÷ 2 = 0, Remainder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Reading the remainders from bottom to top gives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1100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Aft>
                <a:spcPts val="0"/>
              </a:spcAft>
            </a:pP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Fractional Part: 0.25</a:t>
            </a:r>
            <a:endParaRPr lang="en-PK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convert the fractional part, multiply by 2 repeatedly and record the integer results: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0.25 × 2 =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.50 (Integer part is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0.50 × 2 =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.00 (Integer part is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Reading the integer parts from top to bottom gives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.01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P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Aft>
                <a:spcPts val="0"/>
              </a:spcAft>
            </a:pP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Final Result</a:t>
            </a:r>
            <a:endParaRPr lang="en-PK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Combining both parts results in </a:t>
            </a:r>
            <a:r>
              <a:rPr lang="en-PK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1100.01</a:t>
            </a:r>
            <a:r>
              <a:rPr lang="en-US" b="1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PK" dirty="0">
                <a:solidFill>
                  <a:srgbClr val="0A0A0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P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33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088AF76-BF3E-422D-AACC-56F3D50096D2}"/>
              </a:ext>
            </a:extLst>
          </p:cNvPr>
          <p:cNvSpPr/>
          <p:nvPr/>
        </p:nvSpPr>
        <p:spPr>
          <a:xfrm>
            <a:off x="655757" y="764024"/>
            <a:ext cx="5972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 a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H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Ad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 and Sub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endParaRPr lang="en-PK" sz="2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C070DD1-BCFB-4CAB-BA5F-BA58C523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04" y="1760864"/>
            <a:ext cx="7789085" cy="442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5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26FB88-3646-47C9-B8EC-FFD056D0B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628" y="1442760"/>
            <a:ext cx="9228536" cy="416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08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F259BA-8BDA-414B-B24D-228C7FE1A1AD}"/>
              </a:ext>
            </a:extLst>
          </p:cNvPr>
          <p:cNvSpPr/>
          <p:nvPr/>
        </p:nvSpPr>
        <p:spPr>
          <a:xfrm>
            <a:off x="1079653" y="1038867"/>
            <a:ext cx="9397388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marR="4294505" algn="just">
              <a:spcBef>
                <a:spcPts val="300"/>
              </a:spcBef>
              <a:spcAft>
                <a:spcPts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eger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prese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tat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ons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endParaRPr lang="en-PK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52070"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so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unsigned 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 in</a:t>
            </a:r>
            <a:r>
              <a:rPr lang="en-US" sz="2000" spc="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b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te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 </a:t>
            </a:r>
            <a:r>
              <a:rPr lang="en-US" sz="2000" spc="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=25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5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est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</a:t>
            </a:r>
            <a:r>
              <a:rPr lang="en-US" sz="2000" spc="3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</a:t>
            </a:r>
            <a:r>
              <a:rPr lang="en-US" sz="2000" spc="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 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 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</a:t>
            </a:r>
            <a:r>
              <a:rPr lang="en-US" sz="2000" spc="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</a:t>
            </a:r>
            <a:r>
              <a:rPr lang="en-US" sz="2000" spc="3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48895" algn="just">
              <a:lnSpc>
                <a:spcPct val="1060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=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6553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5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least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significa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hen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 even other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 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3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1356360" algn="just">
              <a:spcAft>
                <a:spcPts val="0"/>
              </a:spcAft>
            </a:pP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am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Addr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ions,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aracter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igned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endParaRPr lang="en-PK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50800" algn="just">
              <a:lnSpc>
                <a:spcPct val="107000"/>
              </a:lnSpc>
              <a:spcAft>
                <a:spcPts val="0"/>
              </a:spcAft>
            </a:pP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ive.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ignifica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bit(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 is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sign: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ive.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are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 a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uter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as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tw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’s co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lemen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64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F8FB7-8464-4023-917B-BEE4A3088063}"/>
              </a:ext>
            </a:extLst>
          </p:cNvPr>
          <p:cNvSpPr/>
          <p:nvPr/>
        </p:nvSpPr>
        <p:spPr>
          <a:xfrm>
            <a:off x="835446" y="644386"/>
            <a:ext cx="10521107" cy="6014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marR="4309110" algn="just">
              <a:spcAft>
                <a:spcPts val="0"/>
              </a:spcAft>
            </a:pP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In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erpre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tat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erpret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endParaRPr lang="en-PK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9300">
              <a:spcBef>
                <a:spcPts val="110"/>
              </a:spcBef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Binary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Decimal C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ersion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110"/>
              </a:spcBef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igned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erpret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endParaRPr lang="en-PK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9300">
              <a:spcBef>
                <a:spcPts val="110"/>
              </a:spcBef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 is 0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igned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 is 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 as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Decimal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9300">
              <a:spcBef>
                <a:spcPts val="110"/>
              </a:spcBef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 is 1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o’s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lement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ert 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Decimal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2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48895" algn="just">
              <a:lnSpc>
                <a:spcPct val="107000"/>
              </a:lnSpc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ost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significa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bit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is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o,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hex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igit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z="2000" b="1" dirty="0"/>
              <a:t>Most Significant Nibble (MSN))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signed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eger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0-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h.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begin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ng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8-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 in</a:t>
            </a:r>
            <a:r>
              <a:rPr lang="en-US" sz="2000" spc="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ir sign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bit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so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they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ive.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49530">
              <a:lnSpc>
                <a:spcPct val="106000"/>
              </a:lnSpc>
              <a:spcAft>
                <a:spcPts val="0"/>
              </a:spcAft>
            </a:pP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b="1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est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osit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327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7d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sma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lest</a:t>
            </a:r>
            <a:r>
              <a:rPr lang="en-US" sz="2000" spc="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</a:t>
            </a:r>
            <a:r>
              <a:rPr lang="en-US" sz="2000" spc="4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 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is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8000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8d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4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49530">
              <a:lnSpc>
                <a:spcPct val="106000"/>
              </a:lnSpc>
              <a:spcAft>
                <a:spcPts val="0"/>
              </a:spcAft>
            </a:pP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b="1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est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osit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=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7d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mallest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ive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signed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is 8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128d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1461135" algn="just"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00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-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and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h, signed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al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unsigned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1862455" algn="just"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80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-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h, sig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=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unsigned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-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5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53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25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2360930" algn="just"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80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 -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h, signed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ecim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=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unsigned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mal -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5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endParaRPr lang="en-P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686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BF3E13-515E-4404-86FD-722176A534E8}"/>
              </a:ext>
            </a:extLst>
          </p:cNvPr>
          <p:cNvSpPr/>
          <p:nvPr/>
        </p:nvSpPr>
        <p:spPr>
          <a:xfrm>
            <a:off x="1277957" y="910993"/>
            <a:ext cx="9121966" cy="551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marR="4187825" algn="just">
              <a:spcAft>
                <a:spcPts val="0"/>
              </a:spcAft>
            </a:pP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R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prese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nta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endParaRPr lang="en-PK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5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50165" indent="-228600">
              <a:lnSpc>
                <a:spcPct val="150000"/>
              </a:lnSpc>
              <a:tabLst>
                <a:tab pos="5207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	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b="1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r>
              <a:rPr lang="en-US" sz="2000" b="1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18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sev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18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17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</a:t>
            </a:r>
            <a:r>
              <a:rPr lang="en-US" sz="2000" spc="18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7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ch</a:t>
            </a:r>
            <a:r>
              <a:rPr lang="en-US" sz="2000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aracte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000" spc="18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</a:t>
            </a:r>
            <a:r>
              <a:rPr lang="en-US" sz="2000" spc="18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om</a:t>
            </a:r>
            <a:r>
              <a:rPr lang="en-US" sz="2000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</a:t>
            </a:r>
            <a:r>
              <a:rPr lang="en-US" sz="2000" spc="3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   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000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are considered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ble.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thers a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used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cation con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ol pu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oses (Non-printable) .</a:t>
            </a:r>
          </a:p>
          <a:p>
            <a:pPr marL="520700" marR="50165" indent="-228600">
              <a:lnSpc>
                <a:spcPct val="150000"/>
              </a:lnSpc>
              <a:tabLst>
                <a:tab pos="520700" algn="l"/>
              </a:tabLs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Space key ASCII Code is 32(20h).</a:t>
            </a: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Scan Code: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Each key on an IBM-PC keyboard is assigned a unique hardware-dependent code known as scan code. When a key is pressed or released, the keyboard controller sends this code to the system, which then translates it into the corresponding ASCII character or control action.</a:t>
            </a:r>
          </a:p>
          <a:p>
            <a:pPr marL="292100"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Example: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keys like Ctrl, Shift, Alt have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scan codes only,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they don't produce ASCII codes by themselves.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185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993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Cambria Math</vt:lpstr>
      <vt:lpstr>Symbol</vt:lpstr>
      <vt:lpstr>Times New Roman</vt:lpstr>
      <vt:lpstr>Verdana</vt:lpstr>
      <vt:lpstr>Office Theme</vt:lpstr>
      <vt:lpstr>Computer Organization &amp; Assembly Language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Asim Munir</dc:creator>
  <cp:lastModifiedBy>Tayyab Akhtar</cp:lastModifiedBy>
  <cp:revision>45</cp:revision>
  <dcterms:created xsi:type="dcterms:W3CDTF">2025-02-23T12:40:10Z</dcterms:created>
  <dcterms:modified xsi:type="dcterms:W3CDTF">2026-03-06T09:37:55Z</dcterms:modified>
</cp:coreProperties>
</file>