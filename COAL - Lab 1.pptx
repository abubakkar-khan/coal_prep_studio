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892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48936-A613-469A-A601-88BA344BD3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5E14C7-169E-45B1-A96C-7C66A5D04D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174F3B-1401-4458-8BDB-AB5BB6AD1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3467D-5182-48FA-B1F9-90774ABF8E13}" type="datetimeFigureOut">
              <a:rPr lang="en-PK" smtClean="0"/>
              <a:t>25/02/2026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9CE8CF-7AB4-4785-9145-837FF9D5A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CBF7F8-68A5-40F5-8312-A124FA67A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7CF8E-A7B9-46F1-AFCA-9E9E7A6513E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5235958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80F05-6206-4C52-B215-37E9F5CB6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961BE4-D2CD-4607-9B72-DE25AA8DCE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B6CF7C-46DB-4088-99B0-C255348E2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3467D-5182-48FA-B1F9-90774ABF8E13}" type="datetimeFigureOut">
              <a:rPr lang="en-PK" smtClean="0"/>
              <a:t>25/02/2026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B2A0C2-388A-40CB-8832-A3D2953CE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1DD971-4F16-4F1D-9525-3715429EA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7CF8E-A7B9-46F1-AFCA-9E9E7A6513E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0364590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B0046-218A-431F-B8AB-7F84F4BC2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FD719A-22B6-4643-A389-594592CEB5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8E6669-90B5-443A-9AF5-EA5E1A6C7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3467D-5182-48FA-B1F9-90774ABF8E13}" type="datetimeFigureOut">
              <a:rPr lang="en-PK" smtClean="0"/>
              <a:t>25/02/2026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8B23C4-353B-4447-8CBF-8E78A405AE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8EB961-4382-4C4E-8593-64DDB41EB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7CF8E-A7B9-46F1-AFCA-9E9E7A6513E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1359703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E4A3A-178C-497E-9E61-513B156D8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A7541E-DFF6-4F35-AB34-E8FA6D2A58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12261B-78D3-4EA9-BBCC-60AC1B44E8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D3FAB4-5AEA-42FC-99FD-D2137ECDF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3467D-5182-48FA-B1F9-90774ABF8E13}" type="datetimeFigureOut">
              <a:rPr lang="en-PK" smtClean="0"/>
              <a:t>25/02/2026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D0AEF3-713E-40CB-9631-FCB58B2AF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B01E71-C2B5-477F-9C3F-98E1AE44F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7CF8E-A7B9-46F1-AFCA-9E9E7A6513E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4552573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BE84B-7D0D-45AC-B94D-B37B322A9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5EB08-FE00-47B3-8865-2F782CB79F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33BFC5-285F-400C-9218-F856C69A7E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687643-6397-45C5-BF27-6923DD6CE2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4BCA24-CDA2-4966-990E-2C6E29591E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786BACF-662A-430D-8232-2821F82F9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3467D-5182-48FA-B1F9-90774ABF8E13}" type="datetimeFigureOut">
              <a:rPr lang="en-PK" smtClean="0"/>
              <a:t>25/02/2026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E6FFB4-260F-49C1-A942-3601C575F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D89F86E-4ED8-4288-BDC9-EAFC1CB13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7CF8E-A7B9-46F1-AFCA-9E9E7A6513E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8663956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AF609-B5DC-4BEF-A0E7-0C44A3B5CB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82A118-2FB7-432A-9F9F-0B8DB9254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3467D-5182-48FA-B1F9-90774ABF8E13}" type="datetimeFigureOut">
              <a:rPr lang="en-PK" smtClean="0"/>
              <a:t>25/02/2026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963BAB-98A1-4D18-83FD-E49691D43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9FBD72-737A-4E76-8701-1E7EE60A5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7CF8E-A7B9-46F1-AFCA-9E9E7A6513E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9555535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6A4398-042F-402F-A9F0-5956BDC67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3467D-5182-48FA-B1F9-90774ABF8E13}" type="datetimeFigureOut">
              <a:rPr lang="en-PK" smtClean="0"/>
              <a:t>25/02/2026</a:t>
            </a:fld>
            <a:endParaRPr lang="en-P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3F641D-55EA-44A3-95A1-41F1DD72F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58FC64-C522-4EB0-A8A2-274604509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7CF8E-A7B9-46F1-AFCA-9E9E7A6513E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8800807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57C5D-BF9E-4684-AF4D-4EF2D05FD3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FB3CC7-CB72-49B7-8340-AF485BA4C6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2181E1-2B95-4B5F-9E22-C9131557AF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549CB9-FC8D-480C-AD9F-8497909D9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3467D-5182-48FA-B1F9-90774ABF8E13}" type="datetimeFigureOut">
              <a:rPr lang="en-PK" smtClean="0"/>
              <a:t>25/02/2026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120296-DB2C-4BB0-956C-F61F41ED5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998C9A-6EC3-41A1-8DD9-1FB65D2C1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7CF8E-A7B9-46F1-AFCA-9E9E7A6513E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6706265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14483-29C9-49F1-8F00-08C0BA75A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1CDD458-15D6-49A5-B4AC-802A0F23E4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8FC939-C573-4DC4-BCAD-744179DAE9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635607-1260-4B85-A87B-487F7EE71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3467D-5182-48FA-B1F9-90774ABF8E13}" type="datetimeFigureOut">
              <a:rPr lang="en-PK" smtClean="0"/>
              <a:t>25/02/2026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419D30-4D55-4100-98AE-84010DDCE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A4DC4F-A318-4DE4-9F73-B3D45CA88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7CF8E-A7B9-46F1-AFCA-9E9E7A6513E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996597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739DB-88B9-4B66-B249-F98F6B292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8B61FF-E025-4DE1-8977-B3913C4BE8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72176C-58FA-4A76-9DF4-F769A716C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3467D-5182-48FA-B1F9-90774ABF8E13}" type="datetimeFigureOut">
              <a:rPr lang="en-PK" smtClean="0"/>
              <a:t>25/02/2026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3427F4-3F59-4481-B0D0-E8B8F2C5BC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5E001A-E16B-402E-BABB-B047FF8FA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7CF8E-A7B9-46F1-AFCA-9E9E7A6513E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5389522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21C386C-08E7-4A75-9746-11BFDDA600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6302F5-82CD-4170-BE31-1C71967ABB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30EF91-9462-4045-A73E-0AC0C4F88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3467D-5182-48FA-B1F9-90774ABF8E13}" type="datetimeFigureOut">
              <a:rPr lang="en-PK" smtClean="0"/>
              <a:t>25/02/2026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A74332-B921-4B4B-86C8-6C6C7EA54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0BAE71-4D4A-4CAA-8D5D-E82926409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7CF8E-A7B9-46F1-AFCA-9E9E7A6513E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8925725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CF788E-6EE2-4640-ACB3-E1031F049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8E2E27-AE3A-4A40-9768-1D9F4622B1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F5B7DA-39A7-454C-92AC-BAF3F7AA3C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73467D-5182-48FA-B1F9-90774ABF8E13}" type="datetimeFigureOut">
              <a:rPr lang="en-PK" smtClean="0"/>
              <a:t>25/02/2026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B3324B-42DB-4FE1-9C15-7CDA9EEC3B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0529AC-FDD5-49F2-912A-E0BDA6B0F0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B7CF8E-A7B9-46F1-AFCA-9E9E7A6513E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2927601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F3A9B-9EC9-4FF3-9C69-742539F24A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99141"/>
            <a:ext cx="9144000" cy="2110821"/>
          </a:xfrm>
        </p:spPr>
        <p:txBody>
          <a:bodyPr>
            <a:normAutofit fontScale="90000"/>
          </a:bodyPr>
          <a:lstStyle/>
          <a:p>
            <a:r>
              <a:rPr lang="en-US" dirty="0"/>
              <a:t>Computer Organization &amp;</a:t>
            </a:r>
            <a:br>
              <a:rPr lang="en-PK" dirty="0"/>
            </a:br>
            <a:r>
              <a:rPr lang="en-US" dirty="0"/>
              <a:t>Assembly Language</a:t>
            </a:r>
            <a:br>
              <a:rPr lang="en-PK" dirty="0"/>
            </a:br>
            <a:br>
              <a:rPr lang="en-US" dirty="0"/>
            </a:br>
            <a:endParaRPr lang="en-PK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103881-96C1-4CED-B0E7-4B906B40A3F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Lab 01</a:t>
            </a:r>
          </a:p>
          <a:p>
            <a:r>
              <a:rPr lang="en-US" b="1" spc="5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M</a:t>
            </a:r>
            <a:r>
              <a:rPr lang="en-US" b="1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ic</a:t>
            </a:r>
            <a:r>
              <a:rPr lang="en-US" b="1" spc="-5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r</a:t>
            </a:r>
            <a:r>
              <a:rPr lang="en-US" b="1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oc</a:t>
            </a:r>
            <a:r>
              <a:rPr lang="en-US" b="1" spc="15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o</a:t>
            </a:r>
            <a:r>
              <a:rPr lang="en-US" b="1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mput</a:t>
            </a:r>
            <a:r>
              <a:rPr lang="en-US" b="1" spc="5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</a:t>
            </a:r>
            <a:r>
              <a:rPr lang="en-US" b="1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r</a:t>
            </a:r>
            <a:r>
              <a:rPr lang="en-US" b="1" spc="-115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b="1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Sys</a:t>
            </a:r>
            <a:r>
              <a:rPr lang="en-US" b="1" spc="5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</a:t>
            </a:r>
            <a:r>
              <a:rPr lang="en-US" b="1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ems</a:t>
            </a:r>
            <a:endParaRPr lang="en-PK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5991124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7C0D7A1-D904-4CEB-8E3D-36208BB9B42E}"/>
              </a:ext>
            </a:extLst>
          </p:cNvPr>
          <p:cNvSpPr/>
          <p:nvPr/>
        </p:nvSpPr>
        <p:spPr>
          <a:xfrm>
            <a:off x="826264" y="902025"/>
            <a:ext cx="10499075" cy="58733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3500" algn="ctr">
              <a:spcBef>
                <a:spcPts val="70"/>
              </a:spcBef>
              <a:spcAft>
                <a:spcPts val="0"/>
              </a:spcAft>
            </a:pPr>
            <a:r>
              <a:rPr lang="en-US" sz="2800" b="1" spc="5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M</a:t>
            </a:r>
            <a:r>
              <a:rPr lang="en-US" sz="2800" b="1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ic</a:t>
            </a:r>
            <a:r>
              <a:rPr lang="en-US" sz="2800" b="1" spc="-5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r</a:t>
            </a:r>
            <a:r>
              <a:rPr lang="en-US" sz="2800" b="1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oc</a:t>
            </a:r>
            <a:r>
              <a:rPr lang="en-US" sz="2800" b="1" spc="15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o</a:t>
            </a:r>
            <a:r>
              <a:rPr lang="en-US" sz="2800" b="1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mput</a:t>
            </a:r>
            <a:r>
              <a:rPr lang="en-US" sz="2800" b="1" spc="5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</a:t>
            </a:r>
            <a:r>
              <a:rPr lang="en-US" sz="2800" b="1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r</a:t>
            </a:r>
            <a:r>
              <a:rPr lang="en-US" sz="2800" b="1" spc="-115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800" b="1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Sys</a:t>
            </a:r>
            <a:r>
              <a:rPr lang="en-US" sz="2800" b="1" spc="5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</a:t>
            </a:r>
            <a:r>
              <a:rPr lang="en-US" sz="2800" b="1" dirty="0">
                <a:solidFill>
                  <a:srgbClr val="221F1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ems</a:t>
            </a:r>
            <a:endParaRPr lang="en-PK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300"/>
              </a:lnSpc>
              <a:spcBef>
                <a:spcPts val="95"/>
              </a:spcBef>
              <a:spcAft>
                <a:spcPts val="0"/>
              </a:spcAft>
            </a:pP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PK" sz="105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63500">
              <a:spcAft>
                <a:spcPts val="0"/>
              </a:spcAft>
            </a:pPr>
            <a:r>
              <a:rPr lang="en-US" sz="2000" b="1" spc="5" dirty="0">
                <a:solidFill>
                  <a:srgbClr val="221F1F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O</a:t>
            </a:r>
            <a:r>
              <a:rPr lang="en-US" sz="2000" b="1" dirty="0">
                <a:solidFill>
                  <a:srgbClr val="221F1F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BJE</a:t>
            </a:r>
            <a:r>
              <a:rPr lang="en-US" sz="2000" b="1" spc="-5" dirty="0">
                <a:solidFill>
                  <a:srgbClr val="221F1F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C</a:t>
            </a:r>
            <a:r>
              <a:rPr lang="en-US" sz="2000" b="1" dirty="0">
                <a:solidFill>
                  <a:srgbClr val="221F1F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TIVE</a:t>
            </a:r>
            <a:r>
              <a:rPr lang="en-US" sz="2000" b="1" spc="-5" dirty="0">
                <a:solidFill>
                  <a:srgbClr val="221F1F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S</a:t>
            </a:r>
            <a:r>
              <a:rPr lang="en-US" sz="2000" b="1" dirty="0">
                <a:solidFill>
                  <a:srgbClr val="221F1F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:</a:t>
            </a:r>
            <a:endParaRPr lang="en-PK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2000" dirty="0">
                <a:solidFill>
                  <a:srgbClr val="221F1F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• </a:t>
            </a:r>
            <a:r>
              <a:rPr lang="en-US" sz="2000" spc="300" dirty="0">
                <a:solidFill>
                  <a:srgbClr val="221F1F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pc="5" dirty="0">
                <a:solidFill>
                  <a:srgbClr val="221F1F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S</a:t>
            </a:r>
            <a:r>
              <a:rPr lang="en-US" dirty="0">
                <a:solidFill>
                  <a:srgbClr val="221F1F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tu</a:t>
            </a:r>
            <a:r>
              <a:rPr lang="en-US" spc="-5" dirty="0">
                <a:solidFill>
                  <a:srgbClr val="221F1F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d</a:t>
            </a:r>
            <a:r>
              <a:rPr lang="en-US" dirty="0">
                <a:solidFill>
                  <a:srgbClr val="221F1F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</a:t>
            </a:r>
            <a:r>
              <a:rPr lang="en-US" spc="5" dirty="0">
                <a:solidFill>
                  <a:srgbClr val="221F1F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n</a:t>
            </a:r>
            <a:r>
              <a:rPr lang="en-US" dirty="0">
                <a:solidFill>
                  <a:srgbClr val="221F1F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ts will be a</a:t>
            </a:r>
            <a:r>
              <a:rPr lang="en-US" spc="5" dirty="0">
                <a:solidFill>
                  <a:srgbClr val="221F1F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b</a:t>
            </a:r>
            <a:r>
              <a:rPr lang="en-US" dirty="0">
                <a:solidFill>
                  <a:srgbClr val="221F1F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le to</a:t>
            </a:r>
            <a:r>
              <a:rPr lang="en-US" spc="-15" dirty="0">
                <a:solidFill>
                  <a:srgbClr val="221F1F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dirty="0">
                <a:solidFill>
                  <a:srgbClr val="221F1F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lea</a:t>
            </a:r>
            <a:r>
              <a:rPr lang="en-US" spc="-5" dirty="0">
                <a:solidFill>
                  <a:srgbClr val="221F1F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r</a:t>
            </a:r>
            <a:r>
              <a:rPr lang="en-US" dirty="0">
                <a:solidFill>
                  <a:srgbClr val="221F1F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n </a:t>
            </a:r>
            <a:r>
              <a:rPr lang="en-US" spc="5" dirty="0">
                <a:solidFill>
                  <a:srgbClr val="221F1F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</a:t>
            </a:r>
            <a:r>
              <a:rPr lang="en-US" dirty="0">
                <a:solidFill>
                  <a:srgbClr val="221F1F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he </a:t>
            </a:r>
            <a:r>
              <a:rPr lang="en-US" spc="10" dirty="0">
                <a:solidFill>
                  <a:srgbClr val="221F1F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c</a:t>
            </a:r>
            <a:r>
              <a:rPr lang="en-US" dirty="0">
                <a:solidFill>
                  <a:srgbClr val="221F1F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om</a:t>
            </a:r>
            <a:r>
              <a:rPr lang="en-US" spc="5" dirty="0">
                <a:solidFill>
                  <a:srgbClr val="221F1F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p</a:t>
            </a:r>
            <a:r>
              <a:rPr lang="en-US" dirty="0">
                <a:solidFill>
                  <a:srgbClr val="221F1F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one</a:t>
            </a:r>
            <a:r>
              <a:rPr lang="en-US" spc="5" dirty="0">
                <a:solidFill>
                  <a:srgbClr val="221F1F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n</a:t>
            </a:r>
            <a:r>
              <a:rPr lang="en-US" dirty="0">
                <a:solidFill>
                  <a:srgbClr val="221F1F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ts </a:t>
            </a:r>
            <a:r>
              <a:rPr lang="en-US" spc="-10" dirty="0">
                <a:solidFill>
                  <a:srgbClr val="221F1F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o</a:t>
            </a:r>
            <a:r>
              <a:rPr lang="en-US" dirty="0">
                <a:solidFill>
                  <a:srgbClr val="221F1F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f</a:t>
            </a:r>
            <a:r>
              <a:rPr lang="en-US" spc="-5" dirty="0">
                <a:solidFill>
                  <a:srgbClr val="221F1F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dirty="0">
                <a:solidFill>
                  <a:srgbClr val="221F1F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mic</a:t>
            </a:r>
            <a:r>
              <a:rPr lang="en-US" spc="-5" dirty="0">
                <a:solidFill>
                  <a:srgbClr val="221F1F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r</a:t>
            </a:r>
            <a:r>
              <a:rPr lang="en-US" dirty="0">
                <a:solidFill>
                  <a:srgbClr val="221F1F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oc</a:t>
            </a:r>
            <a:r>
              <a:rPr lang="en-US" spc="-5" dirty="0">
                <a:solidFill>
                  <a:srgbClr val="221F1F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o</a:t>
            </a:r>
            <a:r>
              <a:rPr lang="en-US" dirty="0">
                <a:solidFill>
                  <a:srgbClr val="221F1F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mput</a:t>
            </a:r>
            <a:r>
              <a:rPr lang="en-US" spc="5" dirty="0">
                <a:solidFill>
                  <a:srgbClr val="221F1F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</a:t>
            </a:r>
            <a:r>
              <a:rPr lang="en-US" dirty="0">
                <a:solidFill>
                  <a:srgbClr val="221F1F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r</a:t>
            </a:r>
            <a:r>
              <a:rPr lang="en-US" spc="-5" dirty="0">
                <a:solidFill>
                  <a:srgbClr val="221F1F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dirty="0">
                <a:solidFill>
                  <a:srgbClr val="221F1F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s</a:t>
            </a:r>
            <a:r>
              <a:rPr lang="en-US" spc="-5" dirty="0">
                <a:solidFill>
                  <a:srgbClr val="221F1F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y</a:t>
            </a:r>
            <a:r>
              <a:rPr lang="en-US" dirty="0">
                <a:solidFill>
                  <a:srgbClr val="221F1F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st</a:t>
            </a:r>
            <a:r>
              <a:rPr lang="en-US" spc="15" dirty="0">
                <a:solidFill>
                  <a:srgbClr val="221F1F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</a:t>
            </a:r>
            <a:r>
              <a:rPr lang="en-US" dirty="0">
                <a:solidFill>
                  <a:srgbClr val="221F1F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m.</a:t>
            </a:r>
            <a:endParaRPr lang="en-PK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dirty="0">
                <a:solidFill>
                  <a:srgbClr val="221F1F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• </a:t>
            </a:r>
            <a:r>
              <a:rPr lang="en-US" spc="300" dirty="0">
                <a:solidFill>
                  <a:srgbClr val="221F1F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>
                <a:solidFill>
                  <a:srgbClr val="221F1F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</a:t>
            </a:r>
            <a:r>
              <a:rPr lang="en-US" spc="-5" dirty="0">
                <a:solidFill>
                  <a:srgbClr val="221F1F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h</a:t>
            </a:r>
            <a:r>
              <a:rPr lang="en-US" dirty="0">
                <a:solidFill>
                  <a:srgbClr val="221F1F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ey </a:t>
            </a:r>
            <a:r>
              <a:rPr lang="en-US" spc="-10" dirty="0">
                <a:solidFill>
                  <a:srgbClr val="221F1F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w</a:t>
            </a:r>
            <a:r>
              <a:rPr lang="en-US" dirty="0">
                <a:solidFill>
                  <a:srgbClr val="221F1F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ill</a:t>
            </a:r>
            <a:r>
              <a:rPr lang="en-US" spc="10" dirty="0">
                <a:solidFill>
                  <a:srgbClr val="221F1F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pc="-5" dirty="0">
                <a:solidFill>
                  <a:srgbClr val="221F1F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k</a:t>
            </a:r>
            <a:r>
              <a:rPr lang="en-US" dirty="0">
                <a:solidFill>
                  <a:srgbClr val="221F1F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now</a:t>
            </a:r>
            <a:r>
              <a:rPr lang="en-US" spc="-5" dirty="0">
                <a:solidFill>
                  <a:srgbClr val="221F1F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dirty="0">
                <a:solidFill>
                  <a:srgbClr val="221F1F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h</a:t>
            </a:r>
            <a:r>
              <a:rPr lang="en-US" spc="10" dirty="0">
                <a:solidFill>
                  <a:srgbClr val="221F1F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o</a:t>
            </a:r>
            <a:r>
              <a:rPr lang="en-US" dirty="0">
                <a:solidFill>
                  <a:srgbClr val="221F1F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w</a:t>
            </a:r>
            <a:r>
              <a:rPr lang="en-US" spc="-5" dirty="0">
                <a:solidFill>
                  <a:srgbClr val="221F1F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dirty="0">
                <a:solidFill>
                  <a:srgbClr val="221F1F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to</a:t>
            </a:r>
            <a:r>
              <a:rPr lang="en-US" spc="10" dirty="0">
                <a:solidFill>
                  <a:srgbClr val="221F1F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dirty="0">
                <a:solidFill>
                  <a:srgbClr val="221F1F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execute</a:t>
            </a:r>
            <a:r>
              <a:rPr lang="en-US" spc="10" dirty="0">
                <a:solidFill>
                  <a:srgbClr val="221F1F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dirty="0">
                <a:solidFill>
                  <a:srgbClr val="221F1F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an</a:t>
            </a:r>
            <a:r>
              <a:rPr lang="en-US" spc="5" dirty="0">
                <a:solidFill>
                  <a:srgbClr val="221F1F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dirty="0">
                <a:solidFill>
                  <a:srgbClr val="221F1F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i</a:t>
            </a:r>
            <a:r>
              <a:rPr lang="en-US" spc="5" dirty="0">
                <a:solidFill>
                  <a:srgbClr val="221F1F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n</a:t>
            </a:r>
            <a:r>
              <a:rPr lang="en-US" dirty="0">
                <a:solidFill>
                  <a:srgbClr val="221F1F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str</a:t>
            </a:r>
            <a:r>
              <a:rPr lang="en-US" spc="-5" dirty="0">
                <a:solidFill>
                  <a:srgbClr val="221F1F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u</a:t>
            </a:r>
            <a:r>
              <a:rPr lang="en-US" dirty="0">
                <a:solidFill>
                  <a:srgbClr val="221F1F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ctio</a:t>
            </a:r>
            <a:r>
              <a:rPr lang="en-US" spc="10" dirty="0">
                <a:solidFill>
                  <a:srgbClr val="221F1F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n</a:t>
            </a:r>
            <a:r>
              <a:rPr lang="en-US" dirty="0">
                <a:solidFill>
                  <a:srgbClr val="221F1F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.</a:t>
            </a:r>
            <a:endParaRPr lang="en-PK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dirty="0">
                <a:solidFill>
                  <a:srgbClr val="221F1F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• </a:t>
            </a:r>
            <a:r>
              <a:rPr lang="en-US" spc="300" dirty="0">
                <a:solidFill>
                  <a:srgbClr val="221F1F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pc="5" dirty="0">
                <a:solidFill>
                  <a:srgbClr val="221F1F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S</a:t>
            </a:r>
            <a:r>
              <a:rPr lang="en-US" dirty="0">
                <a:solidFill>
                  <a:srgbClr val="221F1F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tu</a:t>
            </a:r>
            <a:r>
              <a:rPr lang="en-US" spc="-5" dirty="0">
                <a:solidFill>
                  <a:srgbClr val="221F1F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d</a:t>
            </a:r>
            <a:r>
              <a:rPr lang="en-US" dirty="0">
                <a:solidFill>
                  <a:srgbClr val="221F1F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</a:t>
            </a:r>
            <a:r>
              <a:rPr lang="en-US" spc="5" dirty="0">
                <a:solidFill>
                  <a:srgbClr val="221F1F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n</a:t>
            </a:r>
            <a:r>
              <a:rPr lang="en-US" dirty="0">
                <a:solidFill>
                  <a:srgbClr val="221F1F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ts will </a:t>
            </a:r>
            <a:r>
              <a:rPr lang="en-US" spc="-5" dirty="0">
                <a:solidFill>
                  <a:srgbClr val="221F1F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h</a:t>
            </a:r>
            <a:r>
              <a:rPr lang="en-US" dirty="0">
                <a:solidFill>
                  <a:srgbClr val="221F1F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ave a </a:t>
            </a:r>
            <a:r>
              <a:rPr lang="en-US" spc="5" dirty="0">
                <a:solidFill>
                  <a:srgbClr val="221F1F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b</a:t>
            </a:r>
            <a:r>
              <a:rPr lang="en-US" spc="-5" dirty="0">
                <a:solidFill>
                  <a:srgbClr val="221F1F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r</a:t>
            </a:r>
            <a:r>
              <a:rPr lang="en-US" dirty="0">
                <a:solidFill>
                  <a:srgbClr val="221F1F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i</a:t>
            </a:r>
            <a:r>
              <a:rPr lang="en-US" spc="5" dirty="0">
                <a:solidFill>
                  <a:srgbClr val="221F1F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</a:t>
            </a:r>
            <a:r>
              <a:rPr lang="en-US" dirty="0">
                <a:solidFill>
                  <a:srgbClr val="221F1F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f</a:t>
            </a:r>
            <a:r>
              <a:rPr lang="en-US" spc="-5" dirty="0">
                <a:solidFill>
                  <a:srgbClr val="221F1F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k</a:t>
            </a:r>
            <a:r>
              <a:rPr lang="en-US" dirty="0">
                <a:solidFill>
                  <a:srgbClr val="221F1F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no</a:t>
            </a:r>
            <a:r>
              <a:rPr lang="en-US" spc="-5" dirty="0">
                <a:solidFill>
                  <a:srgbClr val="221F1F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w</a:t>
            </a:r>
            <a:r>
              <a:rPr lang="en-US" dirty="0">
                <a:solidFill>
                  <a:srgbClr val="221F1F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le</a:t>
            </a:r>
            <a:r>
              <a:rPr lang="en-US" spc="5" dirty="0">
                <a:solidFill>
                  <a:srgbClr val="221F1F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d</a:t>
            </a:r>
            <a:r>
              <a:rPr lang="en-US" spc="-5" dirty="0">
                <a:solidFill>
                  <a:srgbClr val="221F1F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g</a:t>
            </a:r>
            <a:r>
              <a:rPr lang="en-US" dirty="0">
                <a:solidFill>
                  <a:srgbClr val="221F1F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 </a:t>
            </a:r>
            <a:r>
              <a:rPr lang="en-US" spc="5" dirty="0">
                <a:solidFill>
                  <a:srgbClr val="221F1F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</a:t>
            </a:r>
            <a:r>
              <a:rPr lang="en-US" dirty="0">
                <a:solidFill>
                  <a:srgbClr val="221F1F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bo</a:t>
            </a:r>
            <a:r>
              <a:rPr lang="en-US" spc="-5" dirty="0">
                <a:solidFill>
                  <a:srgbClr val="221F1F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u</a:t>
            </a:r>
            <a:r>
              <a:rPr lang="en-US" dirty="0">
                <a:solidFill>
                  <a:srgbClr val="221F1F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 I/O</a:t>
            </a:r>
            <a:r>
              <a:rPr lang="en-US" spc="5" dirty="0">
                <a:solidFill>
                  <a:srgbClr val="221F1F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pc="-5" dirty="0">
                <a:solidFill>
                  <a:srgbClr val="221F1F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d</a:t>
            </a:r>
            <a:r>
              <a:rPr lang="en-US" dirty="0">
                <a:solidFill>
                  <a:srgbClr val="221F1F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evices.</a:t>
            </a:r>
            <a:endParaRPr lang="en-PK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dirty="0">
                <a:solidFill>
                  <a:srgbClr val="221F1F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• </a:t>
            </a:r>
            <a:r>
              <a:rPr lang="en-US" spc="300" dirty="0">
                <a:solidFill>
                  <a:srgbClr val="221F1F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dirty="0">
                <a:solidFill>
                  <a:srgbClr val="221F1F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</a:t>
            </a:r>
            <a:r>
              <a:rPr lang="en-US" spc="-5" dirty="0">
                <a:solidFill>
                  <a:srgbClr val="221F1F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h</a:t>
            </a:r>
            <a:r>
              <a:rPr lang="en-US" dirty="0">
                <a:solidFill>
                  <a:srgbClr val="221F1F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ey </a:t>
            </a:r>
            <a:r>
              <a:rPr lang="en-US" spc="-10" dirty="0">
                <a:solidFill>
                  <a:srgbClr val="221F1F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w</a:t>
            </a:r>
            <a:r>
              <a:rPr lang="en-US" dirty="0">
                <a:solidFill>
                  <a:srgbClr val="221F1F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ill learn a</a:t>
            </a:r>
            <a:r>
              <a:rPr lang="en-US" spc="5" dirty="0">
                <a:solidFill>
                  <a:srgbClr val="221F1F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b</a:t>
            </a:r>
            <a:r>
              <a:rPr lang="en-US" dirty="0">
                <a:solidFill>
                  <a:srgbClr val="221F1F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o</a:t>
            </a:r>
            <a:r>
              <a:rPr lang="en-US" spc="-5" dirty="0">
                <a:solidFill>
                  <a:srgbClr val="221F1F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u</a:t>
            </a:r>
            <a:r>
              <a:rPr lang="en-US" dirty="0">
                <a:solidFill>
                  <a:srgbClr val="221F1F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 </a:t>
            </a:r>
            <a:r>
              <a:rPr lang="en-US" spc="10" dirty="0">
                <a:solidFill>
                  <a:srgbClr val="221F1F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v</a:t>
            </a:r>
            <a:r>
              <a:rPr lang="en-US" dirty="0">
                <a:solidFill>
                  <a:srgbClr val="221F1F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ario</a:t>
            </a:r>
            <a:r>
              <a:rPr lang="en-US" spc="-5" dirty="0">
                <a:solidFill>
                  <a:srgbClr val="221F1F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u</a:t>
            </a:r>
            <a:r>
              <a:rPr lang="en-US" dirty="0">
                <a:solidFill>
                  <a:srgbClr val="221F1F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s typ</a:t>
            </a:r>
            <a:r>
              <a:rPr lang="en-US" spc="5" dirty="0">
                <a:solidFill>
                  <a:srgbClr val="221F1F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</a:t>
            </a:r>
            <a:r>
              <a:rPr lang="en-US" dirty="0">
                <a:solidFill>
                  <a:srgbClr val="221F1F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s of</a:t>
            </a:r>
            <a:r>
              <a:rPr lang="en-US" spc="-5" dirty="0">
                <a:solidFill>
                  <a:srgbClr val="221F1F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pc="10" dirty="0">
                <a:solidFill>
                  <a:srgbClr val="221F1F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p</a:t>
            </a:r>
            <a:r>
              <a:rPr lang="en-US" spc="-5" dirty="0">
                <a:solidFill>
                  <a:srgbClr val="221F1F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r</a:t>
            </a:r>
            <a:r>
              <a:rPr lang="en-US" dirty="0">
                <a:solidFill>
                  <a:srgbClr val="221F1F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o</a:t>
            </a:r>
            <a:r>
              <a:rPr lang="en-US" spc="-5" dirty="0">
                <a:solidFill>
                  <a:srgbClr val="221F1F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gr</a:t>
            </a:r>
            <a:r>
              <a:rPr lang="en-US" dirty="0">
                <a:solidFill>
                  <a:srgbClr val="221F1F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</a:t>
            </a:r>
            <a:r>
              <a:rPr lang="en-US" spc="10" dirty="0">
                <a:solidFill>
                  <a:srgbClr val="221F1F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m</a:t>
            </a:r>
            <a:r>
              <a:rPr lang="en-US" dirty="0">
                <a:solidFill>
                  <a:srgbClr val="221F1F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ming lang</a:t>
            </a:r>
            <a:r>
              <a:rPr lang="en-US" spc="-10" dirty="0">
                <a:solidFill>
                  <a:srgbClr val="221F1F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u</a:t>
            </a:r>
            <a:r>
              <a:rPr lang="en-US" dirty="0">
                <a:solidFill>
                  <a:srgbClr val="221F1F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ages.</a:t>
            </a:r>
            <a:endParaRPr lang="en-PK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00"/>
              </a:lnSpc>
              <a:spcBef>
                <a:spcPts val="15"/>
              </a:spcBef>
              <a:spcAft>
                <a:spcPts val="0"/>
              </a:spcAft>
            </a:pP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PK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63500">
              <a:spcAft>
                <a:spcPts val="0"/>
              </a:spcAft>
            </a:pPr>
            <a:r>
              <a:rPr lang="en-US" sz="2000" b="1" spc="-5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C</a:t>
            </a:r>
            <a:r>
              <a:rPr lang="en-US" sz="2000" b="1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om</a:t>
            </a:r>
            <a:r>
              <a:rPr lang="en-US" sz="2000" b="1" spc="5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p</a:t>
            </a:r>
            <a:r>
              <a:rPr lang="en-US" sz="2000" b="1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on</a:t>
            </a:r>
            <a:r>
              <a:rPr lang="en-US" sz="2000" b="1" spc="-5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en</a:t>
            </a:r>
            <a:r>
              <a:rPr lang="en-US" sz="2000" b="1" spc="5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</a:t>
            </a:r>
            <a:r>
              <a:rPr lang="en-US" sz="2000" b="1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s of</a:t>
            </a:r>
            <a:r>
              <a:rPr lang="en-US" sz="2000" b="1" spc="5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b="1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</a:t>
            </a:r>
            <a:r>
              <a:rPr lang="en-US" sz="2000" b="1" spc="5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M</a:t>
            </a:r>
            <a:r>
              <a:rPr lang="en-US" sz="2000" b="1" spc="-5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i</a:t>
            </a:r>
            <a:r>
              <a:rPr lang="en-US" sz="2000" b="1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c</a:t>
            </a:r>
            <a:r>
              <a:rPr lang="en-US" sz="2000" b="1" spc="-5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r</a:t>
            </a:r>
            <a:r>
              <a:rPr lang="en-US" sz="2000" b="1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ocom</a:t>
            </a:r>
            <a:r>
              <a:rPr lang="en-US" sz="2000" b="1" spc="5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p</a:t>
            </a:r>
            <a:r>
              <a:rPr lang="en-US" sz="2000" b="1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u</a:t>
            </a:r>
            <a:r>
              <a:rPr lang="en-US" sz="2000" b="1" spc="5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</a:t>
            </a:r>
            <a:r>
              <a:rPr lang="en-US" sz="2000" b="1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er </a:t>
            </a:r>
            <a:r>
              <a:rPr lang="en-US" sz="2000" b="1" spc="-5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S</a:t>
            </a:r>
            <a:r>
              <a:rPr lang="en-US" sz="2000" b="1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ys</a:t>
            </a:r>
            <a:r>
              <a:rPr lang="en-US" sz="2000" b="1" spc="5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</a:t>
            </a:r>
            <a:r>
              <a:rPr lang="en-US" sz="2000" b="1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em</a:t>
            </a:r>
            <a:endParaRPr lang="en-PK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00"/>
              </a:lnSpc>
              <a:spcBef>
                <a:spcPts val="5"/>
              </a:spcBef>
              <a:spcAft>
                <a:spcPts val="0"/>
              </a:spcAft>
            </a:pP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PK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21920">
              <a:lnSpc>
                <a:spcPct val="150000"/>
              </a:lnSpc>
              <a:spcAft>
                <a:spcPts val="0"/>
              </a:spcAft>
            </a:pPr>
            <a:r>
              <a:rPr lang="en-US" sz="2000" b="1" spc="50" dirty="0">
                <a:latin typeface="Arial" panose="020B0604020202020204" pitchFamily="34" charset="0"/>
                <a:ea typeface="Arial" panose="020B0604020202020204" pitchFamily="34" charset="0"/>
              </a:rPr>
              <a:t>1. </a:t>
            </a:r>
            <a:r>
              <a:rPr lang="en-US" sz="2000" b="1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</a:t>
            </a:r>
            <a:r>
              <a:rPr lang="en-US" sz="2000" b="1" spc="-5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h</a:t>
            </a:r>
            <a:r>
              <a:rPr lang="en-US" sz="2000" b="1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 CPU</a:t>
            </a:r>
            <a:endParaRPr lang="en-PK" sz="14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spcAft>
                <a:spcPts val="0"/>
              </a:spcAft>
              <a:buFont typeface="+mj-lt"/>
              <a:buAutoNum type="alphaLcPeriod"/>
            </a:pPr>
            <a:r>
              <a:rPr lang="en-US" spc="-5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C</a:t>
            </a:r>
            <a:r>
              <a:rPr lang="en-US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PU</a:t>
            </a:r>
            <a:r>
              <a:rPr lang="en-US" spc="5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consis</a:t>
            </a:r>
            <a:r>
              <a:rPr lang="en-US" spc="5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</a:t>
            </a:r>
            <a:r>
              <a:rPr lang="en-US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s of</a:t>
            </a:r>
            <a:r>
              <a:rPr lang="en-US" spc="-5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these units</a:t>
            </a:r>
            <a:r>
              <a:rPr lang="en-US" spc="-5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uni</a:t>
            </a:r>
            <a:r>
              <a:rPr lang="en-US" spc="5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</a:t>
            </a:r>
            <a:r>
              <a:rPr lang="en-US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s: </a:t>
            </a:r>
            <a:r>
              <a:rPr lang="en-US" spc="5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</a:t>
            </a:r>
            <a:r>
              <a:rPr lang="en-US" spc="-5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x</a:t>
            </a:r>
            <a:r>
              <a:rPr lang="en-US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ecution Un</a:t>
            </a:r>
            <a:r>
              <a:rPr lang="en-US" spc="5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i</a:t>
            </a:r>
            <a:r>
              <a:rPr lang="en-US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</a:t>
            </a:r>
            <a:r>
              <a:rPr lang="en-US" spc="1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(</a:t>
            </a:r>
            <a:r>
              <a:rPr lang="en-US" spc="-1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</a:t>
            </a:r>
            <a:r>
              <a:rPr lang="en-US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U), Control Unit (CU), MMU a</a:t>
            </a:r>
            <a:r>
              <a:rPr lang="en-US" spc="5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n</a:t>
            </a:r>
            <a:r>
              <a:rPr lang="en-US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d</a:t>
            </a:r>
            <a:r>
              <a:rPr lang="en-US" spc="-5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Bus</a:t>
            </a:r>
            <a:r>
              <a:rPr lang="en-US" spc="-5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I</a:t>
            </a:r>
            <a:r>
              <a:rPr lang="en-US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n</a:t>
            </a:r>
            <a:r>
              <a:rPr lang="en-US" spc="5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</a:t>
            </a:r>
            <a:r>
              <a:rPr lang="en-US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er</a:t>
            </a:r>
            <a:r>
              <a:rPr lang="en-US" spc="-5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f</a:t>
            </a:r>
            <a:r>
              <a:rPr lang="en-US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ace </a:t>
            </a:r>
            <a:r>
              <a:rPr lang="en-US" spc="5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U</a:t>
            </a:r>
            <a:r>
              <a:rPr lang="en-US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n</a:t>
            </a:r>
            <a:r>
              <a:rPr lang="en-US" spc="5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i</a:t>
            </a:r>
            <a:r>
              <a:rPr lang="en-US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 (B</a:t>
            </a:r>
            <a:r>
              <a:rPr lang="en-US" spc="-5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I</a:t>
            </a:r>
            <a:r>
              <a:rPr lang="en-US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U).</a:t>
            </a:r>
            <a:endParaRPr lang="en-US" sz="1200" dirty="0">
              <a:latin typeface="Times New Roman" panose="02020603050405020304" pitchFamily="18" charset="0"/>
              <a:ea typeface="Cambria" panose="02040503050406030204" pitchFamily="18" charset="0"/>
            </a:endParaRPr>
          </a:p>
          <a:p>
            <a:pPr marL="457200" indent="-457200">
              <a:lnSpc>
                <a:spcPct val="150000"/>
              </a:lnSpc>
              <a:spcAft>
                <a:spcPts val="0"/>
              </a:spcAft>
              <a:buFont typeface="+mj-lt"/>
              <a:buAutoNum type="alphaLcPeriod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Execution unit consists of Arithmetic and Logic Unit (ALU) and eight registers for storing data: AX, BX, CX, DX, SI, DI, BP and SP. It also contains FLAGS register.</a:t>
            </a:r>
          </a:p>
          <a:p>
            <a:pPr marL="457200" indent="-457200">
              <a:lnSpc>
                <a:spcPct val="150000"/>
              </a:lnSpc>
              <a:spcAft>
                <a:spcPts val="0"/>
              </a:spcAft>
              <a:buFont typeface="+mj-lt"/>
              <a:buAutoNum type="alphaLcPeriod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Bus Interface Unit’s registers are: CS, DS, ES, SS and IP holding address of memory locations.</a:t>
            </a:r>
            <a:endParaRPr lang="en-PK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29629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F6456D0-ED3D-4AA1-A8C3-29F373F98A01}"/>
              </a:ext>
            </a:extLst>
          </p:cNvPr>
          <p:cNvSpPr/>
          <p:nvPr/>
        </p:nvSpPr>
        <p:spPr>
          <a:xfrm>
            <a:off x="1057619" y="902524"/>
            <a:ext cx="9749928" cy="5652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1920">
              <a:spcAft>
                <a:spcPts val="0"/>
              </a:spcAft>
            </a:pPr>
            <a:r>
              <a:rPr lang="en-US" b="1" spc="5" dirty="0">
                <a:latin typeface="Arial" panose="020B0604020202020204" pitchFamily="34" charset="0"/>
                <a:ea typeface="Cambria" panose="02040503050406030204" pitchFamily="18" charset="0"/>
                <a:cs typeface="Cambria" panose="02040503050406030204" pitchFamily="18" charset="0"/>
              </a:rPr>
              <a:t>2. </a:t>
            </a:r>
            <a:r>
              <a:rPr lang="en-US" b="1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M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emo</a:t>
            </a:r>
            <a:r>
              <a:rPr lang="en-US" b="1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r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y</a:t>
            </a:r>
            <a:endParaRPr lang="en-PK" sz="12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900"/>
              </a:lnSpc>
              <a:spcBef>
                <a:spcPts val="20"/>
              </a:spcBef>
              <a:spcAft>
                <a:spcPts val="0"/>
              </a:spcAft>
            </a:pPr>
            <a:r>
              <a:rPr lang="en-US" sz="1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PK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863600" indent="-342900">
              <a:spcAft>
                <a:spcPts val="0"/>
              </a:spcAft>
              <a:buFont typeface="+mj-lt"/>
              <a:buAutoNum type="alphaLcPeriod"/>
            </a:pPr>
            <a:r>
              <a:rPr lang="en-US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M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emo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r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y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cont</a:t>
            </a:r>
            <a:r>
              <a:rPr lang="en-US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n</a:t>
            </a:r>
            <a:r>
              <a:rPr lang="en-US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s can 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b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 </a:t>
            </a:r>
            <a:r>
              <a:rPr lang="en-US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ccessed e</a:t>
            </a:r>
            <a:r>
              <a:rPr lang="en-US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i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ther by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b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y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te</a:t>
            </a:r>
            <a:r>
              <a:rPr lang="en-US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or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by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w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o</a:t>
            </a:r>
            <a:r>
              <a:rPr lang="en-US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r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d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.</a:t>
            </a:r>
            <a:endParaRPr lang="en-PK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863600" indent="-342900">
              <a:spcBef>
                <a:spcPts val="115"/>
              </a:spcBef>
              <a:spcAft>
                <a:spcPts val="0"/>
              </a:spcAft>
              <a:buFont typeface="+mj-lt"/>
              <a:buAutoNum type="alphaLcPeriod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B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y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te</a:t>
            </a:r>
            <a:r>
              <a:rPr lang="en-US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is 8-bit</a:t>
            </a:r>
            <a:r>
              <a:rPr lang="en-US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</a:t>
            </a:r>
            <a:r>
              <a:rPr lang="en-US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n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d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w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o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r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d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pc="1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i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s 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1</a:t>
            </a:r>
            <a:r>
              <a:rPr lang="en-US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6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-bi</a:t>
            </a:r>
            <a:r>
              <a:rPr lang="en-US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.</a:t>
            </a:r>
            <a:endParaRPr lang="en-PK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863600" indent="-342900">
              <a:spcBef>
                <a:spcPts val="105"/>
              </a:spcBef>
              <a:spcAft>
                <a:spcPts val="0"/>
              </a:spcAft>
              <a:buFont typeface="+mj-lt"/>
              <a:buAutoNum type="alphaLcPeriod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w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o op</a:t>
            </a:r>
            <a:r>
              <a:rPr lang="en-US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r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</a:t>
            </a:r>
            <a:r>
              <a:rPr lang="en-US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ions c</a:t>
            </a:r>
            <a:r>
              <a:rPr lang="en-US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n </a:t>
            </a:r>
            <a:r>
              <a:rPr lang="en-US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b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p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er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f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o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r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med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on mem</a:t>
            </a:r>
            <a:r>
              <a:rPr lang="en-US" spc="1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o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ry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:</a:t>
            </a:r>
            <a:r>
              <a:rPr lang="en-US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r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</a:t>
            </a:r>
            <a:r>
              <a:rPr lang="en-US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d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(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f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</a:t>
            </a:r>
            <a:r>
              <a:rPr lang="en-US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c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h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) and</a:t>
            </a:r>
            <a:r>
              <a:rPr lang="en-US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wr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i</a:t>
            </a:r>
            <a:r>
              <a:rPr lang="en-US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e(</a:t>
            </a:r>
            <a:r>
              <a:rPr lang="en-US" spc="1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s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to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r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e).</a:t>
            </a:r>
            <a:endParaRPr lang="en-PK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863600" indent="-342900">
              <a:spcBef>
                <a:spcPts val="115"/>
              </a:spcBef>
              <a:spcAft>
                <a:spcPts val="0"/>
              </a:spcAft>
              <a:buFont typeface="+mj-lt"/>
              <a:buAutoNum type="alphaLcPeriod"/>
            </a:pPr>
            <a:r>
              <a:rPr lang="en-US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M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emo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r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y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can be </a:t>
            </a:r>
            <a:r>
              <a:rPr lang="en-US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h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r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ee</a:t>
            </a:r>
            <a:r>
              <a:rPr lang="en-US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typ</a:t>
            </a:r>
            <a:r>
              <a:rPr lang="en-US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s: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R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</a:t>
            </a:r>
            <a:r>
              <a:rPr lang="en-US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M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,</a:t>
            </a:r>
            <a:r>
              <a:rPr lang="en-US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R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O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M</a:t>
            </a:r>
            <a:r>
              <a:rPr lang="en-US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</a:t>
            </a:r>
            <a:r>
              <a:rPr lang="en-US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n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d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C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ache.</a:t>
            </a:r>
            <a:endParaRPr lang="en-PK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863600" indent="-342900">
              <a:spcBef>
                <a:spcPts val="105"/>
              </a:spcBef>
              <a:spcAft>
                <a:spcPts val="0"/>
              </a:spcAft>
              <a:buFont typeface="+mj-lt"/>
              <a:buAutoNum type="alphaLcPeriod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h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ere</a:t>
            </a:r>
            <a:r>
              <a:rPr lang="en-US" spc="-3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are</a:t>
            </a:r>
            <a:r>
              <a:rPr lang="en-US" spc="-3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two</a:t>
            </a:r>
            <a:r>
              <a:rPr lang="en-US" spc="-4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typ</a:t>
            </a:r>
            <a:r>
              <a:rPr lang="en-US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s</a:t>
            </a:r>
            <a:r>
              <a:rPr lang="en-US" spc="-3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of</a:t>
            </a:r>
            <a:r>
              <a:rPr lang="en-US" spc="-4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R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M</a:t>
            </a:r>
            <a:r>
              <a:rPr lang="en-US" spc="-3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(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R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</a:t>
            </a:r>
            <a:r>
              <a:rPr lang="en-US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n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d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om</a:t>
            </a:r>
            <a:r>
              <a:rPr lang="en-US" spc="-4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ccess</a:t>
            </a:r>
            <a:r>
              <a:rPr lang="en-US" spc="-2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M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emo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ry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):</a:t>
            </a:r>
            <a:r>
              <a:rPr lang="en-US" spc="-3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D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RA</a:t>
            </a:r>
            <a:r>
              <a:rPr lang="en-US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M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:</a:t>
            </a:r>
            <a:r>
              <a:rPr lang="en-US" spc="-4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pc="1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D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y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n</a:t>
            </a:r>
            <a:r>
              <a:rPr lang="en-US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mic</a:t>
            </a:r>
            <a:r>
              <a:rPr lang="en-US" spc="-3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R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M</a:t>
            </a:r>
            <a:r>
              <a:rPr lang="en-US" spc="-2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</a:t>
            </a:r>
            <a:r>
              <a:rPr lang="en-US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n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d </a:t>
            </a:r>
            <a:r>
              <a:rPr lang="en-US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S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R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</a:t>
            </a:r>
            <a:r>
              <a:rPr lang="en-US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M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: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S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</a:t>
            </a:r>
            <a:r>
              <a:rPr lang="en-US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</a:t>
            </a:r>
            <a:r>
              <a:rPr lang="en-US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i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c R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M.</a:t>
            </a:r>
            <a:endParaRPr lang="en-PK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863600" indent="-342900">
              <a:spcBef>
                <a:spcPts val="105"/>
              </a:spcBef>
              <a:spcAft>
                <a:spcPts val="0"/>
              </a:spcAft>
              <a:buFont typeface="+mj-lt"/>
              <a:buAutoNum type="alphaLcPeriod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R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O</a:t>
            </a:r>
            <a:r>
              <a:rPr lang="en-US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M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,</a:t>
            </a:r>
            <a:r>
              <a:rPr lang="en-US" spc="16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PROM,</a:t>
            </a:r>
            <a:r>
              <a:rPr lang="en-US" spc="15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PRO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M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,</a:t>
            </a:r>
            <a:r>
              <a:rPr lang="en-US" spc="16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</a:t>
            </a:r>
            <a:r>
              <a:rPr lang="en-US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n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d</a:t>
            </a:r>
            <a:r>
              <a:rPr lang="en-US" spc="14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FL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</a:t>
            </a:r>
            <a:r>
              <a:rPr lang="en-US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S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H</a:t>
            </a:r>
            <a:r>
              <a:rPr lang="en-US" spc="15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mem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or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y</a:t>
            </a:r>
            <a:r>
              <a:rPr lang="en-US" spc="17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are</a:t>
            </a:r>
            <a:r>
              <a:rPr lang="en-US" spc="15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examples</a:t>
            </a:r>
            <a:r>
              <a:rPr lang="en-US" spc="15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of</a:t>
            </a:r>
            <a:r>
              <a:rPr lang="en-US" spc="15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R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O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M</a:t>
            </a:r>
            <a:r>
              <a:rPr lang="en-US" spc="16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pc="-1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(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Read</a:t>
            </a:r>
            <a:r>
              <a:rPr lang="en-US" spc="15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Only </a:t>
            </a:r>
            <a:r>
              <a:rPr lang="en-US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M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emo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ry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)</a:t>
            </a:r>
            <a:endParaRPr lang="en-PK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863600" indent="-342900">
              <a:spcBef>
                <a:spcPts val="105"/>
              </a:spcBef>
              <a:spcAft>
                <a:spcPts val="0"/>
              </a:spcAft>
              <a:buFont typeface="+mj-lt"/>
              <a:buAutoNum type="alphaLcPeriod"/>
            </a:pP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C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ache is 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d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ivi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d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ed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i</a:t>
            </a:r>
            <a:r>
              <a:rPr lang="en-US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n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to t</a:t>
            </a:r>
            <a:r>
              <a:rPr lang="en-US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w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o t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y</a:t>
            </a:r>
            <a:r>
              <a:rPr lang="en-US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p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es:</a:t>
            </a:r>
            <a:r>
              <a:rPr lang="en-US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I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n</a:t>
            </a:r>
            <a:r>
              <a:rPr lang="en-US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ernal Cache</a:t>
            </a:r>
            <a:r>
              <a:rPr lang="en-US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</a:t>
            </a:r>
            <a:r>
              <a:rPr lang="en-US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n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d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x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</a:t>
            </a:r>
            <a:r>
              <a:rPr lang="en-US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r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n</a:t>
            </a:r>
            <a:r>
              <a:rPr lang="en-US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l 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C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ach</a:t>
            </a:r>
            <a:r>
              <a:rPr lang="en-US" spc="1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.</a:t>
            </a:r>
          </a:p>
          <a:p>
            <a:pPr marL="520700">
              <a:spcBef>
                <a:spcPts val="105"/>
              </a:spcBef>
              <a:spcAft>
                <a:spcPts val="0"/>
              </a:spcAft>
            </a:pPr>
            <a:endParaRPr lang="en-US" sz="1200" dirty="0"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  <a:p>
            <a:pPr marL="121920"/>
            <a:r>
              <a:rPr lang="en-US" b="1" dirty="0">
                <a:latin typeface="Arial" panose="020B0604020202020204" pitchFamily="34" charset="0"/>
              </a:rPr>
              <a:t>3. I/O Ports</a:t>
            </a:r>
            <a:endParaRPr lang="en-PK" b="1" dirty="0">
              <a:latin typeface="Arial" panose="020B0604020202020204" pitchFamily="34" charset="0"/>
            </a:endParaRPr>
          </a:p>
          <a:p>
            <a:r>
              <a:rPr lang="en-US" dirty="0"/>
              <a:t> </a:t>
            </a:r>
            <a:endParaRPr lang="en-PK" dirty="0"/>
          </a:p>
          <a:p>
            <a:pPr marL="800100" lvl="1" indent="-342900">
              <a:buFont typeface="+mj-lt"/>
              <a:buAutoNum type="alphaLcPeriod"/>
            </a:pP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</a:rPr>
              <a:t>There are two types of I/O ports: Serial Port and Parallel Port.</a:t>
            </a:r>
            <a:endParaRPr lang="en-PK" spc="-5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800100" lvl="1" indent="-342900">
              <a:buFont typeface="+mj-lt"/>
              <a:buAutoNum type="alphaLcPeriod"/>
            </a:pP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</a:rPr>
              <a:t>Serial port transfers one bit at a time.</a:t>
            </a:r>
            <a:endParaRPr lang="en-PK" spc="-5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800100" lvl="1" indent="-342900">
              <a:buFont typeface="+mj-lt"/>
              <a:buAutoNum type="alphaLcPeriod"/>
            </a:pP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</a:rPr>
              <a:t>Parallel port transfers 8 or 16 bits at a time.</a:t>
            </a:r>
            <a:endParaRPr lang="en-PK" spc="-5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800100" lvl="1" indent="-342900">
              <a:buFont typeface="+mj-lt"/>
              <a:buAutoNum type="alphaLcPeriod"/>
            </a:pP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</a:rPr>
              <a:t>Examples of I/O ports are Magnetic Disk, Keyboard, Display Monitor and Printers.</a:t>
            </a:r>
            <a:endParaRPr lang="en-PK" spc="-5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800100" lvl="1" indent="-342900">
              <a:buFont typeface="+mj-lt"/>
              <a:buAutoNum type="alphaLcPeriod"/>
            </a:pP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</a:rPr>
              <a:t>Magnetic disk is of two types: Floppy Disk and Hard Disk.</a:t>
            </a:r>
            <a:endParaRPr lang="en-PK" spc="-5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800100" lvl="1" indent="-342900">
              <a:buFont typeface="+mj-lt"/>
              <a:buAutoNum type="alphaLcPeriod"/>
            </a:pP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</a:rPr>
              <a:t>There are three types of printers: Daisy Wheel, Dot Matrix and Laser.</a:t>
            </a:r>
            <a:endParaRPr lang="en-PK" spc="-5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br>
              <a:rPr lang="en-US" dirty="0"/>
            </a:br>
            <a:endParaRPr lang="en-US" sz="1200" dirty="0">
              <a:latin typeface="Times New Roman" panose="020206030504050203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22328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B3355FE-FC32-4A76-8512-13D91C8FE080}"/>
              </a:ext>
            </a:extLst>
          </p:cNvPr>
          <p:cNvSpPr/>
          <p:nvPr/>
        </p:nvSpPr>
        <p:spPr>
          <a:xfrm>
            <a:off x="1035585" y="1026804"/>
            <a:ext cx="9066881" cy="49891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1920">
              <a:spcBef>
                <a:spcPts val="300"/>
              </a:spcBef>
              <a:spcAft>
                <a:spcPts val="0"/>
              </a:spcAft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Buses</a:t>
            </a:r>
            <a:endParaRPr lang="en-PK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900"/>
              </a:lnSpc>
              <a:spcBef>
                <a:spcPts val="20"/>
              </a:spcBef>
              <a:spcAft>
                <a:spcPts val="0"/>
              </a:spcAft>
            </a:pPr>
            <a:r>
              <a:rPr lang="en-US" sz="1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PK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21920" marR="49530">
              <a:lnSpc>
                <a:spcPct val="107000"/>
              </a:lnSpc>
              <a:spcAft>
                <a:spcPts val="0"/>
              </a:spcAft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Pr</a:t>
            </a:r>
            <a:r>
              <a:rPr lang="en-US" sz="24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o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cessor</a:t>
            </a:r>
            <a:r>
              <a:rPr lang="en-US" sz="2400" spc="1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co</a:t>
            </a:r>
            <a:r>
              <a:rPr lang="en-US" sz="24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m</a:t>
            </a:r>
            <a:r>
              <a:rPr lang="en-US" sz="2400" spc="1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m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unicat</a:t>
            </a:r>
            <a:r>
              <a:rPr lang="en-US" sz="24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s</a:t>
            </a:r>
            <a:r>
              <a:rPr lang="en-US" sz="2400" spc="1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4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w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i</a:t>
            </a:r>
            <a:r>
              <a:rPr lang="en-US" sz="24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h</a:t>
            </a:r>
            <a:r>
              <a:rPr lang="en-US" sz="2400" spc="1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mem</a:t>
            </a:r>
            <a:r>
              <a:rPr lang="en-US" sz="24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or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y</a:t>
            </a:r>
            <a:r>
              <a:rPr lang="en-US" sz="2400" spc="1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</a:t>
            </a:r>
            <a:r>
              <a:rPr lang="en-US" sz="24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n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d</a:t>
            </a:r>
            <a:r>
              <a:rPr lang="en-US" sz="24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4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I</a:t>
            </a:r>
            <a:r>
              <a:rPr lang="en-US" sz="2400" spc="1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/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O</a:t>
            </a:r>
            <a:r>
              <a:rPr lang="en-US" sz="24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4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d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evices</a:t>
            </a:r>
            <a:r>
              <a:rPr lang="en-US" sz="2400" spc="1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by</a:t>
            </a:r>
            <a:r>
              <a:rPr lang="en-US" sz="2400" spc="4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using</a:t>
            </a:r>
            <a:r>
              <a:rPr lang="en-US" sz="2400" spc="1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sig</a:t>
            </a:r>
            <a:r>
              <a:rPr lang="en-US" sz="2400" spc="1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n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als</a:t>
            </a:r>
            <a:r>
              <a:rPr lang="en-US" sz="2400" spc="1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that</a:t>
            </a:r>
            <a:r>
              <a:rPr lang="en-US" sz="2400" spc="1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tra</a:t>
            </a:r>
            <a:r>
              <a:rPr lang="en-US" sz="24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v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el</a:t>
            </a:r>
            <a:r>
              <a:rPr lang="en-US" sz="2400" spc="1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along</a:t>
            </a:r>
            <a:r>
              <a:rPr lang="en-US" sz="24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 set</a:t>
            </a:r>
            <a:r>
              <a:rPr lang="en-US" sz="24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of</a:t>
            </a:r>
            <a:r>
              <a:rPr lang="en-US" sz="24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w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ires called</a:t>
            </a:r>
            <a:r>
              <a:rPr lang="en-US" sz="24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bus</a:t>
            </a:r>
            <a:r>
              <a:rPr lang="en-US" sz="2400" spc="1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</a:t>
            </a:r>
            <a:r>
              <a:rPr lang="en-US" sz="24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s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.</a:t>
            </a:r>
            <a:r>
              <a:rPr lang="en-US" sz="24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</a:t>
            </a:r>
            <a:r>
              <a:rPr lang="en-US" sz="24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hr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ee</a:t>
            </a:r>
            <a:r>
              <a:rPr lang="en-US" sz="24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4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k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i</a:t>
            </a:r>
            <a:r>
              <a:rPr lang="en-US" sz="24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n</a:t>
            </a:r>
            <a:r>
              <a:rPr lang="en-US" sz="24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d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s of</a:t>
            </a:r>
            <a:r>
              <a:rPr lang="en-US" sz="24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buses:</a:t>
            </a:r>
            <a:r>
              <a:rPr lang="en-US" sz="24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</a:t>
            </a:r>
            <a:r>
              <a:rPr lang="en-US" sz="24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ddr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ess </a:t>
            </a:r>
            <a:r>
              <a:rPr lang="en-US" sz="24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b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us, </a:t>
            </a:r>
            <a:r>
              <a:rPr lang="en-US" sz="24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d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</a:t>
            </a:r>
            <a:r>
              <a:rPr lang="en-US" sz="24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 </a:t>
            </a:r>
            <a:r>
              <a:rPr lang="en-US" sz="24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b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us and</a:t>
            </a:r>
            <a:r>
              <a:rPr lang="en-US" sz="24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contr</a:t>
            </a:r>
            <a:r>
              <a:rPr lang="en-US" sz="24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o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l bu</a:t>
            </a:r>
            <a:r>
              <a:rPr lang="en-US" sz="2400" spc="1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s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.</a:t>
            </a:r>
            <a:endParaRPr lang="en-PK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800"/>
              </a:lnSpc>
              <a:spcBef>
                <a:spcPts val="5"/>
              </a:spcBef>
              <a:spcAft>
                <a:spcPts val="0"/>
              </a:spcAft>
            </a:pP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PK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0810">
              <a:spcAft>
                <a:spcPts val="0"/>
              </a:spcAft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I</a:t>
            </a:r>
            <a:r>
              <a:rPr lang="en-US" sz="2400" b="1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n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s</a:t>
            </a:r>
            <a:r>
              <a:rPr lang="en-US" sz="2400" b="1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ruc</a:t>
            </a:r>
            <a:r>
              <a:rPr lang="en-US" sz="2400" b="1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</a:t>
            </a:r>
            <a:r>
              <a:rPr lang="en-US" sz="2400" b="1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i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on E</a:t>
            </a:r>
            <a:r>
              <a:rPr lang="en-US" sz="2400" b="1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x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ec</a:t>
            </a:r>
            <a:r>
              <a:rPr lang="en-US" sz="2400" b="1" spc="-1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u</a:t>
            </a:r>
            <a:r>
              <a:rPr lang="en-US" sz="2400" b="1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</a:t>
            </a:r>
            <a:r>
              <a:rPr lang="en-US" sz="2400" b="1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i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on</a:t>
            </a:r>
            <a:r>
              <a:rPr lang="en-US" sz="2400" b="1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(Fe</a:t>
            </a:r>
            <a:r>
              <a:rPr lang="en-US" sz="2400" b="1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c</a:t>
            </a:r>
            <a:r>
              <a:rPr lang="en-US" sz="2400" b="1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h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-</a:t>
            </a:r>
            <a:r>
              <a:rPr lang="en-US" sz="2400" b="1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</a:t>
            </a:r>
            <a:r>
              <a:rPr lang="en-US" sz="2400" b="1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x</a:t>
            </a:r>
            <a:r>
              <a:rPr lang="en-US" sz="2400" b="1" spc="-1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c</a:t>
            </a:r>
            <a:r>
              <a:rPr lang="en-US" sz="2400" b="1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ut</a:t>
            </a:r>
            <a:r>
              <a:rPr lang="en-US" sz="2400" b="1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i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on </a:t>
            </a:r>
            <a:r>
              <a:rPr lang="en-US" sz="2400" b="1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C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ycle)</a:t>
            </a:r>
            <a:endParaRPr lang="en-PK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200"/>
              </a:lnSpc>
              <a:spcBef>
                <a:spcPts val="15"/>
              </a:spcBef>
              <a:spcAft>
                <a:spcPts val="0"/>
              </a:spcAf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PK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92100">
              <a:spcAft>
                <a:spcPts val="0"/>
              </a:spcAft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• </a:t>
            </a:r>
            <a:r>
              <a:rPr lang="en-US" sz="2400" spc="3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24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M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achi</a:t>
            </a:r>
            <a:r>
              <a:rPr lang="en-US" sz="24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n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 </a:t>
            </a:r>
            <a:r>
              <a:rPr lang="en-US" sz="24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i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n</a:t>
            </a:r>
            <a:r>
              <a:rPr lang="en-US" sz="2400" spc="-1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s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tr</a:t>
            </a:r>
            <a:r>
              <a:rPr lang="en-US" sz="24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u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ctio</a:t>
            </a:r>
            <a:r>
              <a:rPr lang="en-US" sz="24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n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s ha</a:t>
            </a:r>
            <a:r>
              <a:rPr lang="en-US" sz="24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v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 </a:t>
            </a:r>
            <a:r>
              <a:rPr lang="en-US" sz="24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</a:t>
            </a:r>
            <a:r>
              <a:rPr lang="en-US" sz="24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w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o p</a:t>
            </a:r>
            <a:r>
              <a:rPr lang="en-US" sz="24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</a:t>
            </a:r>
            <a:r>
              <a:rPr lang="en-US" sz="24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r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ts: </a:t>
            </a:r>
            <a:r>
              <a:rPr lang="en-US" sz="24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O</a:t>
            </a:r>
            <a:r>
              <a:rPr lang="en-US" sz="24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p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co</a:t>
            </a:r>
            <a:r>
              <a:rPr lang="en-US" sz="2400" spc="-1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d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 </a:t>
            </a:r>
            <a:r>
              <a:rPr lang="en-US" sz="2400" spc="1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nd</a:t>
            </a:r>
            <a:r>
              <a:rPr lang="en-US" sz="24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O</a:t>
            </a:r>
            <a:r>
              <a:rPr lang="en-US" sz="24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p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eran</a:t>
            </a:r>
            <a:r>
              <a:rPr lang="en-US" sz="24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d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s.</a:t>
            </a:r>
            <a:endParaRPr lang="en-PK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92100">
              <a:spcBef>
                <a:spcPts val="205"/>
              </a:spcBef>
              <a:spcAft>
                <a:spcPts val="0"/>
              </a:spcAft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• </a:t>
            </a:r>
            <a:r>
              <a:rPr lang="en-US" sz="2400" spc="3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</a:t>
            </a:r>
            <a:r>
              <a:rPr lang="en-US" sz="24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h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 s</a:t>
            </a:r>
            <a:r>
              <a:rPr lang="en-US" sz="24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</a:t>
            </a:r>
            <a:r>
              <a:rPr lang="en-US" sz="24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p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s of</a:t>
            </a:r>
            <a:r>
              <a:rPr lang="en-US" sz="24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executi</a:t>
            </a:r>
            <a:r>
              <a:rPr lang="en-US" sz="24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n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g</a:t>
            </a:r>
            <a:r>
              <a:rPr lang="en-US" sz="24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an</a:t>
            </a:r>
            <a:r>
              <a:rPr lang="en-US" sz="2400" spc="1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i</a:t>
            </a:r>
            <a:r>
              <a:rPr lang="en-US" sz="24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n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str</a:t>
            </a:r>
            <a:r>
              <a:rPr lang="en-US" sz="24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u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ction</a:t>
            </a:r>
            <a:r>
              <a:rPr lang="en-US" sz="24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are:</a:t>
            </a:r>
            <a:r>
              <a:rPr lang="en-US" sz="24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4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F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</a:t>
            </a:r>
            <a:r>
              <a:rPr lang="en-US" sz="24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ch</a:t>
            </a:r>
            <a:r>
              <a:rPr lang="en-US" sz="2400" spc="-1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</a:t>
            </a:r>
            <a:r>
              <a:rPr lang="en-US" sz="24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n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d</a:t>
            </a:r>
            <a:r>
              <a:rPr lang="en-US" sz="24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4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</a:t>
            </a:r>
            <a:r>
              <a:rPr lang="en-US" sz="24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x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ecution.</a:t>
            </a:r>
            <a:endParaRPr lang="en-PK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200"/>
              </a:lnSpc>
              <a:spcBef>
                <a:spcPts val="10"/>
              </a:spcBef>
              <a:spcAft>
                <a:spcPts val="0"/>
              </a:spcAf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PK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0810">
              <a:spcAft>
                <a:spcPts val="0"/>
              </a:spcAft>
            </a:pPr>
            <a:r>
              <a:rPr lang="en-US" sz="2400" b="1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P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rogramm</a:t>
            </a:r>
            <a:r>
              <a:rPr lang="en-US" sz="2400" b="1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in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g L</a:t>
            </a:r>
            <a:r>
              <a:rPr lang="en-US" sz="2400" b="1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</a:t>
            </a:r>
            <a:r>
              <a:rPr lang="en-US" sz="2400" b="1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n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g</a:t>
            </a:r>
            <a:r>
              <a:rPr lang="en-US" sz="2400" b="1" spc="1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u</a:t>
            </a:r>
            <a:r>
              <a:rPr lang="en-US" sz="2400" b="1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ges</a:t>
            </a:r>
            <a:endParaRPr lang="en-PK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200"/>
              </a:lnSpc>
              <a:spcBef>
                <a:spcPts val="15"/>
              </a:spcBef>
              <a:spcAft>
                <a:spcPts val="0"/>
              </a:spcAf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PK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92100">
              <a:spcAft>
                <a:spcPts val="0"/>
              </a:spcAft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• </a:t>
            </a:r>
            <a:r>
              <a:rPr lang="en-US" sz="2400" spc="3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24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M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achi</a:t>
            </a:r>
            <a:r>
              <a:rPr lang="en-US" sz="24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n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 lang</a:t>
            </a:r>
            <a:r>
              <a:rPr lang="en-US" sz="24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u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age:</a:t>
            </a:r>
            <a:r>
              <a:rPr lang="en-US" sz="24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4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</a:t>
            </a:r>
            <a:r>
              <a:rPr lang="en-US" sz="24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x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am</a:t>
            </a:r>
            <a:r>
              <a:rPr lang="en-US" sz="24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p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le:</a:t>
            </a:r>
            <a:r>
              <a:rPr lang="en-US" sz="24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00</a:t>
            </a:r>
            <a:r>
              <a:rPr lang="en-US" sz="24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1</a:t>
            </a:r>
            <a:r>
              <a:rPr lang="en-US" sz="24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00</a:t>
            </a:r>
            <a:r>
              <a:rPr lang="en-US" sz="24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0</a:t>
            </a:r>
            <a:r>
              <a:rPr lang="en-US" sz="24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1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1</a:t>
            </a:r>
            <a:endParaRPr lang="en-PK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92100">
              <a:spcBef>
                <a:spcPts val="220"/>
              </a:spcBef>
              <a:spcAft>
                <a:spcPts val="0"/>
              </a:spcAft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• </a:t>
            </a:r>
            <a:r>
              <a:rPr lang="en-US" sz="2400" spc="3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24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ssembly </a:t>
            </a:r>
            <a:r>
              <a:rPr lang="en-US" sz="24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l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</a:t>
            </a:r>
            <a:r>
              <a:rPr lang="en-US" sz="24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n</a:t>
            </a:r>
            <a:r>
              <a:rPr lang="en-US" sz="24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g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ua</a:t>
            </a:r>
            <a:r>
              <a:rPr lang="en-US" sz="24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g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e: E</a:t>
            </a:r>
            <a:r>
              <a:rPr lang="en-US" sz="24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x</a:t>
            </a:r>
            <a:r>
              <a:rPr lang="en-US" sz="2400" spc="1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mple: </a:t>
            </a:r>
            <a:r>
              <a:rPr lang="en-US" sz="24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M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OV</a:t>
            </a:r>
            <a:r>
              <a:rPr lang="en-US" sz="2400" spc="-1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4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X,</a:t>
            </a:r>
            <a:r>
              <a:rPr lang="en-US" sz="24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BX</a:t>
            </a:r>
            <a:endParaRPr lang="en-PK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92100">
              <a:spcBef>
                <a:spcPts val="205"/>
              </a:spcBef>
              <a:spcAft>
                <a:spcPts val="0"/>
              </a:spcAft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• </a:t>
            </a:r>
            <a:r>
              <a:rPr lang="en-US" sz="2400" spc="3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sz="24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H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igh</a:t>
            </a:r>
            <a:r>
              <a:rPr lang="en-US" sz="24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4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L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evel L</a:t>
            </a:r>
            <a:r>
              <a:rPr lang="en-US" sz="24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ng</a:t>
            </a:r>
            <a:r>
              <a:rPr lang="en-US" sz="24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u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age:</a:t>
            </a:r>
            <a:r>
              <a:rPr lang="en-US" sz="24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c =</a:t>
            </a:r>
            <a:r>
              <a:rPr lang="en-US" sz="24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 + b</a:t>
            </a:r>
            <a:endParaRPr lang="en-PK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49995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56B2772-A205-464D-BF23-66614469D3E0}"/>
              </a:ext>
            </a:extLst>
          </p:cNvPr>
          <p:cNvSpPr/>
          <p:nvPr/>
        </p:nvSpPr>
        <p:spPr>
          <a:xfrm>
            <a:off x="1035586" y="1013669"/>
            <a:ext cx="8802477" cy="24384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30810">
              <a:spcAft>
                <a:spcPts val="0"/>
              </a:spcAft>
            </a:pPr>
            <a:r>
              <a:rPr lang="en-US" b="1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C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om</a:t>
            </a:r>
            <a:r>
              <a:rPr lang="en-US" b="1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p</a:t>
            </a:r>
            <a:r>
              <a:rPr lang="en-US" b="1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i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ler</a:t>
            </a:r>
            <a:endParaRPr lang="en-PK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200"/>
              </a:lnSpc>
              <a:spcBef>
                <a:spcPts val="10"/>
              </a:spcBef>
              <a:spcAft>
                <a:spcPts val="0"/>
              </a:spcAf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PK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0810">
              <a:spcAft>
                <a:spcPts val="0"/>
              </a:spcAft>
            </a:pP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I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is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used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to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pc="1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r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</a:t>
            </a:r>
            <a:r>
              <a:rPr lang="en-US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n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slate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hi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g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h</a:t>
            </a:r>
            <a:r>
              <a:rPr lang="en-US" spc="-1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le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v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el statement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to assembly</a:t>
            </a:r>
            <a:r>
              <a:rPr lang="en-US" spc="-1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i</a:t>
            </a:r>
            <a:r>
              <a:rPr lang="en-US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n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str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u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ction(s)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or</a:t>
            </a:r>
            <a:r>
              <a:rPr lang="en-US" spc="1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mac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h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i</a:t>
            </a:r>
            <a:r>
              <a:rPr lang="en-US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n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</a:t>
            </a:r>
            <a:r>
              <a:rPr lang="en-US" spc="-1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i</a:t>
            </a:r>
            <a:r>
              <a:rPr lang="en-US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n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str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u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ctio</a:t>
            </a:r>
            <a:r>
              <a:rPr lang="en-US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n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(s).</a:t>
            </a:r>
            <a:endParaRPr lang="en-PK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200"/>
              </a:lnSpc>
              <a:spcBef>
                <a:spcPts val="10"/>
              </a:spcBef>
              <a:spcAft>
                <a:spcPts val="0"/>
              </a:spcAf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PK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0810">
              <a:spcAft>
                <a:spcPts val="0"/>
              </a:spcAft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Assembler</a:t>
            </a:r>
            <a:endParaRPr lang="en-PK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200"/>
              </a:lnSpc>
              <a:spcBef>
                <a:spcPts val="10"/>
              </a:spcBef>
              <a:spcAft>
                <a:spcPts val="0"/>
              </a:spcAf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PK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0810">
              <a:spcAft>
                <a:spcPts val="0"/>
              </a:spcAft>
            </a:pP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I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 </a:t>
            </a:r>
            <a:r>
              <a:rPr lang="en-US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i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s used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to transl</a:t>
            </a:r>
            <a:r>
              <a:rPr lang="en-US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te</a:t>
            </a:r>
            <a:r>
              <a:rPr lang="en-US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ass</a:t>
            </a:r>
            <a:r>
              <a:rPr lang="en-US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mbly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i</a:t>
            </a:r>
            <a:r>
              <a:rPr lang="en-US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n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str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u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ction</a:t>
            </a:r>
            <a:r>
              <a:rPr lang="en-US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to machine</a:t>
            </a:r>
            <a:r>
              <a:rPr lang="en-US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i</a:t>
            </a:r>
            <a:r>
              <a:rPr lang="en-US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n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str</a:t>
            </a:r>
            <a:r>
              <a:rPr lang="en-US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u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ction</a:t>
            </a:r>
            <a:endParaRPr lang="en-PK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200"/>
              </a:lnSpc>
              <a:spcBef>
                <a:spcPts val="10"/>
              </a:spcBef>
              <a:spcAft>
                <a:spcPts val="0"/>
              </a:spcAf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PK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0810">
              <a:lnSpc>
                <a:spcPts val="1300"/>
              </a:lnSpc>
              <a:spcAft>
                <a:spcPts val="0"/>
              </a:spcAft>
            </a:pPr>
            <a:endParaRPr lang="en-US" b="1" spc="5" dirty="0"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  <a:p>
            <a:pPr marL="130810">
              <a:lnSpc>
                <a:spcPts val="1300"/>
              </a:lnSpc>
              <a:spcAft>
                <a:spcPts val="0"/>
              </a:spcAft>
            </a:pPr>
            <a:r>
              <a:rPr lang="en-US" b="1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Ma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pp</a:t>
            </a:r>
            <a:r>
              <a:rPr lang="en-US" b="1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in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g Bet</a:t>
            </a:r>
            <a:r>
              <a:rPr lang="en-US" b="1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w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een</a:t>
            </a:r>
            <a:r>
              <a:rPr lang="en-US" b="1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Assembly La</a:t>
            </a:r>
            <a:r>
              <a:rPr lang="en-US" b="1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n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gu</a:t>
            </a:r>
            <a:r>
              <a:rPr lang="en-US" b="1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ge </a:t>
            </a:r>
            <a:r>
              <a:rPr lang="en-US" b="1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</a:t>
            </a:r>
            <a:r>
              <a:rPr lang="en-US" b="1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n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d</a:t>
            </a:r>
            <a:r>
              <a:rPr lang="en-US" b="1" spc="-1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H</a:t>
            </a:r>
            <a:r>
              <a:rPr lang="en-US" b="1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i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g</a:t>
            </a:r>
            <a:r>
              <a:rPr lang="en-US" b="1" spc="2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h</a:t>
            </a:r>
            <a:r>
              <a:rPr lang="en-US" b="1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-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Le</a:t>
            </a:r>
            <a:r>
              <a:rPr lang="en-US" b="1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v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el L</a:t>
            </a:r>
            <a:r>
              <a:rPr lang="en-US" b="1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</a:t>
            </a:r>
            <a:r>
              <a:rPr lang="en-US" b="1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n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gu</a:t>
            </a:r>
            <a:r>
              <a:rPr lang="en-US" b="1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ge</a:t>
            </a:r>
            <a:endParaRPr lang="en-PK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F0E3DF6-9E11-4CFB-8AB6-1033CDBFEF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1647563"/>
              </p:ext>
            </p:extLst>
          </p:nvPr>
        </p:nvGraphicFramePr>
        <p:xfrm>
          <a:off x="1488937" y="3847123"/>
          <a:ext cx="8227206" cy="2468332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2586750">
                  <a:extLst>
                    <a:ext uri="{9D8B030D-6E8A-4147-A177-3AD203B41FA5}">
                      <a16:colId xmlns:a16="http://schemas.microsoft.com/office/drawing/2014/main" val="1238202802"/>
                    </a:ext>
                  </a:extLst>
                </a:gridCol>
                <a:gridCol w="2819347">
                  <a:extLst>
                    <a:ext uri="{9D8B030D-6E8A-4147-A177-3AD203B41FA5}">
                      <a16:colId xmlns:a16="http://schemas.microsoft.com/office/drawing/2014/main" val="2556469823"/>
                    </a:ext>
                  </a:extLst>
                </a:gridCol>
                <a:gridCol w="2821109">
                  <a:extLst>
                    <a:ext uri="{9D8B030D-6E8A-4147-A177-3AD203B41FA5}">
                      <a16:colId xmlns:a16="http://schemas.microsoft.com/office/drawing/2014/main" val="3307357535"/>
                    </a:ext>
                  </a:extLst>
                </a:gridCol>
              </a:tblGrid>
              <a:tr h="460884">
                <a:tc>
                  <a:txBody>
                    <a:bodyPr/>
                    <a:lstStyle/>
                    <a:p>
                      <a:pPr marL="381635">
                        <a:spcBef>
                          <a:spcPts val="365"/>
                        </a:spcBef>
                        <a:spcAft>
                          <a:spcPts val="0"/>
                        </a:spcAft>
                      </a:pPr>
                      <a:r>
                        <a:rPr lang="en-US" sz="1800" spc="-5" dirty="0">
                          <a:solidFill>
                            <a:schemeClr val="tx1"/>
                          </a:solidFill>
                          <a:effectLst/>
                        </a:rPr>
                        <a:t>I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ns</a:t>
                      </a:r>
                      <a:r>
                        <a:rPr lang="en-US" sz="1800" spc="5" dirty="0">
                          <a:solidFill>
                            <a:schemeClr val="tx1"/>
                          </a:solidFill>
                          <a:effectLst/>
                        </a:rPr>
                        <a:t>t</a:t>
                      </a:r>
                      <a:r>
                        <a:rPr lang="en-US" sz="1800" spc="-5" dirty="0">
                          <a:solidFill>
                            <a:schemeClr val="tx1"/>
                          </a:solidFill>
                          <a:effectLst/>
                        </a:rPr>
                        <a:t>r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u</a:t>
                      </a:r>
                      <a:r>
                        <a:rPr lang="en-US" sz="1800" spc="-5" dirty="0">
                          <a:solidFill>
                            <a:schemeClr val="tx1"/>
                          </a:solidFill>
                          <a:effectLst/>
                        </a:rPr>
                        <a:t>c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t</a:t>
                      </a:r>
                      <a:r>
                        <a:rPr lang="en-US" sz="1800" spc="5" dirty="0">
                          <a:solidFill>
                            <a:schemeClr val="tx1"/>
                          </a:solidFill>
                          <a:effectLst/>
                        </a:rPr>
                        <a:t>i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on C</a:t>
                      </a:r>
                      <a:r>
                        <a:rPr lang="en-US" sz="1800" spc="-5" dirty="0">
                          <a:solidFill>
                            <a:schemeClr val="tx1"/>
                          </a:solidFill>
                          <a:effectLst/>
                        </a:rPr>
                        <a:t>l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ass</a:t>
                      </a:r>
                      <a:endParaRPr lang="en-PK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639445">
                        <a:spcBef>
                          <a:spcPts val="365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C</a:t>
                      </a:r>
                      <a:r>
                        <a:rPr lang="en-US" sz="1800" spc="-5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800" spc="5">
                          <a:solidFill>
                            <a:schemeClr val="tx1"/>
                          </a:solidFill>
                          <a:effectLst/>
                        </a:rPr>
                        <a:t>L</a:t>
                      </a: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a</a:t>
                      </a:r>
                      <a:r>
                        <a:rPr lang="en-US" sz="1800" spc="5">
                          <a:solidFill>
                            <a:schemeClr val="tx1"/>
                          </a:solidFill>
                          <a:effectLst/>
                        </a:rPr>
                        <a:t>n</a:t>
                      </a:r>
                      <a:r>
                        <a:rPr lang="en-US" sz="1800" spc="-5">
                          <a:solidFill>
                            <a:schemeClr val="tx1"/>
                          </a:solidFill>
                          <a:effectLst/>
                        </a:rPr>
                        <a:t>g</a:t>
                      </a: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ua</a:t>
                      </a:r>
                      <a:r>
                        <a:rPr lang="en-US" sz="1800" spc="-5">
                          <a:solidFill>
                            <a:schemeClr val="tx1"/>
                          </a:solidFill>
                          <a:effectLst/>
                        </a:rPr>
                        <a:t>g</a:t>
                      </a: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e</a:t>
                      </a:r>
                      <a:endParaRPr lang="en-PK" sz="12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368300">
                        <a:spcBef>
                          <a:spcPts val="365"/>
                        </a:spcBef>
                        <a:spcAft>
                          <a:spcPts val="0"/>
                        </a:spcAft>
                      </a:pPr>
                      <a:r>
                        <a:rPr lang="en-US" sz="1800" spc="-5">
                          <a:solidFill>
                            <a:schemeClr val="tx1"/>
                          </a:solidFill>
                          <a:effectLst/>
                        </a:rPr>
                        <a:t>A</a:t>
                      </a: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ssembly La</a:t>
                      </a:r>
                      <a:r>
                        <a:rPr lang="en-US" sz="1800" spc="5">
                          <a:solidFill>
                            <a:schemeClr val="tx1"/>
                          </a:solidFill>
                          <a:effectLst/>
                        </a:rPr>
                        <a:t>n</a:t>
                      </a:r>
                      <a:r>
                        <a:rPr lang="en-US" sz="1800" spc="-5">
                          <a:solidFill>
                            <a:schemeClr val="tx1"/>
                          </a:solidFill>
                          <a:effectLst/>
                        </a:rPr>
                        <a:t>g</a:t>
                      </a: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ua</a:t>
                      </a:r>
                      <a:r>
                        <a:rPr lang="en-US" sz="1800" spc="-5">
                          <a:solidFill>
                            <a:schemeClr val="tx1"/>
                          </a:solidFill>
                          <a:effectLst/>
                        </a:rPr>
                        <a:t>g</a:t>
                      </a: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e</a:t>
                      </a:r>
                      <a:endParaRPr lang="en-PK" sz="12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1975397"/>
                  </a:ext>
                </a:extLst>
              </a:tr>
              <a:tr h="460884">
                <a:tc>
                  <a:txBody>
                    <a:bodyPr/>
                    <a:lstStyle/>
                    <a:p>
                      <a:pPr marL="87630">
                        <a:spcBef>
                          <a:spcPts val="365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Data</a:t>
                      </a:r>
                      <a:r>
                        <a:rPr lang="en-US" sz="1800" spc="5">
                          <a:solidFill>
                            <a:schemeClr val="tx1"/>
                          </a:solidFill>
                          <a:effectLst/>
                        </a:rPr>
                        <a:t> M</a:t>
                      </a: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o</a:t>
                      </a:r>
                      <a:r>
                        <a:rPr lang="en-US" sz="1800" spc="-5">
                          <a:solidFill>
                            <a:schemeClr val="tx1"/>
                          </a:solidFill>
                          <a:effectLst/>
                        </a:rPr>
                        <a:t>v</a:t>
                      </a: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eme</a:t>
                      </a:r>
                      <a:r>
                        <a:rPr lang="en-US" sz="1800" spc="5">
                          <a:solidFill>
                            <a:schemeClr val="tx1"/>
                          </a:solidFill>
                          <a:effectLst/>
                        </a:rPr>
                        <a:t>n</a:t>
                      </a: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</a:rPr>
                        <a:t>t</a:t>
                      </a:r>
                      <a:endParaRPr lang="en-PK" sz="12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87630">
                        <a:spcBef>
                          <a:spcPts val="365"/>
                        </a:spcBef>
                        <a:spcAft>
                          <a:spcPts val="0"/>
                        </a:spcAft>
                      </a:pPr>
                      <a:r>
                        <a:rPr lang="en-US" sz="1800" b="0" spc="-5">
                          <a:solidFill>
                            <a:schemeClr val="tx1"/>
                          </a:solidFill>
                          <a:effectLst/>
                        </a:rPr>
                        <a:t>A=</a:t>
                      </a: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</a:rPr>
                        <a:t>5</a:t>
                      </a:r>
                      <a:endParaRPr lang="en-PK" sz="12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87630">
                        <a:spcBef>
                          <a:spcPts val="365"/>
                        </a:spcBef>
                        <a:spcAft>
                          <a:spcPts val="0"/>
                        </a:spcAft>
                      </a:pPr>
                      <a:r>
                        <a:rPr lang="en-US" sz="1800" b="0" spc="5">
                          <a:solidFill>
                            <a:schemeClr val="tx1"/>
                          </a:solidFill>
                          <a:effectLst/>
                        </a:rPr>
                        <a:t>M</a:t>
                      </a: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</a:rPr>
                        <a:t>OV</a:t>
                      </a:r>
                      <a:r>
                        <a:rPr lang="en-US" sz="1800" b="0" spc="-1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800" b="0" spc="-5">
                          <a:solidFill>
                            <a:schemeClr val="tx1"/>
                          </a:solidFill>
                          <a:effectLst/>
                        </a:rPr>
                        <a:t>A</a:t>
                      </a:r>
                      <a:r>
                        <a:rPr lang="en-US" sz="1800" b="0" spc="5">
                          <a:solidFill>
                            <a:schemeClr val="tx1"/>
                          </a:solidFill>
                          <a:effectLst/>
                        </a:rPr>
                        <a:t>,</a:t>
                      </a: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</a:rPr>
                        <a:t>5</a:t>
                      </a:r>
                      <a:endParaRPr lang="en-PK" sz="12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8696628"/>
                  </a:ext>
                </a:extLst>
              </a:tr>
              <a:tr h="1085680">
                <a:tc>
                  <a:txBody>
                    <a:bodyPr/>
                    <a:lstStyle/>
                    <a:p>
                      <a:pPr marL="87630">
                        <a:spcBef>
                          <a:spcPts val="355"/>
                        </a:spcBef>
                        <a:spcAft>
                          <a:spcPts val="0"/>
                        </a:spcAft>
                      </a:pPr>
                      <a:r>
                        <a:rPr lang="en-US" sz="1800" spc="-5" dirty="0">
                          <a:solidFill>
                            <a:schemeClr val="tx1"/>
                          </a:solidFill>
                          <a:effectLst/>
                        </a:rPr>
                        <a:t>Ar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i</a:t>
                      </a:r>
                      <a:r>
                        <a:rPr lang="en-US" sz="1800" spc="5" dirty="0">
                          <a:solidFill>
                            <a:schemeClr val="tx1"/>
                          </a:solidFill>
                          <a:effectLst/>
                        </a:rPr>
                        <a:t>t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h</a:t>
                      </a:r>
                      <a:r>
                        <a:rPr lang="en-US" sz="1800" spc="-5" dirty="0">
                          <a:solidFill>
                            <a:schemeClr val="tx1"/>
                          </a:solidFill>
                          <a:effectLst/>
                        </a:rPr>
                        <a:t>m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e</a:t>
                      </a:r>
                      <a:r>
                        <a:rPr lang="en-US" sz="1800" spc="5" dirty="0">
                          <a:solidFill>
                            <a:schemeClr val="tx1"/>
                          </a:solidFill>
                          <a:effectLst/>
                        </a:rPr>
                        <a:t>t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ic or </a:t>
                      </a:r>
                      <a:r>
                        <a:rPr lang="en-US" sz="1800" spc="5" dirty="0">
                          <a:solidFill>
                            <a:schemeClr val="tx1"/>
                          </a:solidFill>
                          <a:effectLst/>
                        </a:rPr>
                        <a:t>L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o</a:t>
                      </a:r>
                      <a:r>
                        <a:rPr lang="en-US" sz="1800" spc="-5" dirty="0">
                          <a:solidFill>
                            <a:schemeClr val="tx1"/>
                          </a:solidFill>
                          <a:effectLst/>
                        </a:rPr>
                        <a:t>g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effectLst/>
                        </a:rPr>
                        <a:t>ic</a:t>
                      </a:r>
                      <a:endParaRPr lang="en-PK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87630">
                        <a:spcBef>
                          <a:spcPts val="355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B</a:t>
                      </a:r>
                      <a:r>
                        <a:rPr lang="en-US" sz="1800" b="0" spc="-5" dirty="0">
                          <a:solidFill>
                            <a:schemeClr val="tx1"/>
                          </a:solidFill>
                          <a:effectLst/>
                        </a:rPr>
                        <a:t>=A</a:t>
                      </a:r>
                      <a:r>
                        <a:rPr lang="en-US" sz="1800" b="0" spc="5" dirty="0">
                          <a:solidFill>
                            <a:schemeClr val="tx1"/>
                          </a:solidFill>
                          <a:effectLst/>
                        </a:rPr>
                        <a:t>+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5</a:t>
                      </a:r>
                      <a:endParaRPr lang="en-PK" sz="1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87630" marR="1220470">
                        <a:lnSpc>
                          <a:spcPct val="115000"/>
                        </a:lnSpc>
                        <a:spcBef>
                          <a:spcPts val="355"/>
                        </a:spcBef>
                        <a:spcAft>
                          <a:spcPts val="0"/>
                        </a:spcAft>
                      </a:pPr>
                      <a:r>
                        <a:rPr lang="en-US" sz="1800" b="0" spc="5" dirty="0">
                          <a:solidFill>
                            <a:schemeClr val="tx1"/>
                          </a:solidFill>
                          <a:effectLst/>
                        </a:rPr>
                        <a:t>M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OV</a:t>
                      </a:r>
                      <a:r>
                        <a:rPr lang="en-US" sz="1800" b="0" spc="-1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800" b="0" spc="-5" dirty="0">
                          <a:solidFill>
                            <a:schemeClr val="tx1"/>
                          </a:solidFill>
                          <a:effectLst/>
                        </a:rPr>
                        <a:t>A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X,</a:t>
                      </a:r>
                      <a:r>
                        <a:rPr lang="en-US" sz="1800" b="0" spc="5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A </a:t>
                      </a:r>
                    </a:p>
                    <a:p>
                      <a:pPr marL="87630" marR="1220470">
                        <a:lnSpc>
                          <a:spcPct val="115000"/>
                        </a:lnSpc>
                        <a:spcBef>
                          <a:spcPts val="355"/>
                        </a:spcBef>
                        <a:spcAft>
                          <a:spcPts val="0"/>
                        </a:spcAft>
                      </a:pPr>
                      <a:r>
                        <a:rPr lang="en-US" sz="1800" b="0" spc="-5" dirty="0">
                          <a:solidFill>
                            <a:schemeClr val="tx1"/>
                          </a:solidFill>
                          <a:effectLst/>
                        </a:rPr>
                        <a:t>A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DD</a:t>
                      </a:r>
                      <a:r>
                        <a:rPr lang="en-US" sz="1800" b="0" spc="-5" dirty="0">
                          <a:solidFill>
                            <a:schemeClr val="tx1"/>
                          </a:solidFill>
                          <a:effectLst/>
                        </a:rPr>
                        <a:t> A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X</a:t>
                      </a:r>
                      <a:r>
                        <a:rPr lang="en-US" sz="1800" b="0" spc="5" dirty="0">
                          <a:solidFill>
                            <a:schemeClr val="tx1"/>
                          </a:solidFill>
                          <a:effectLst/>
                        </a:rPr>
                        <a:t>,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5</a:t>
                      </a:r>
                      <a:endParaRPr lang="en-PK" sz="1200" b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87630">
                        <a:spcAft>
                          <a:spcPts val="0"/>
                        </a:spcAft>
                      </a:pPr>
                      <a:r>
                        <a:rPr lang="en-US" sz="1800" b="0" spc="5" dirty="0">
                          <a:solidFill>
                            <a:schemeClr val="tx1"/>
                          </a:solidFill>
                          <a:effectLst/>
                        </a:rPr>
                        <a:t>M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OV</a:t>
                      </a:r>
                      <a:r>
                        <a:rPr lang="en-US" sz="1800" b="0" spc="-1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B,</a:t>
                      </a:r>
                      <a:r>
                        <a:rPr lang="en-US" sz="1800" b="0" spc="5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800" b="0" spc="-5" dirty="0">
                          <a:solidFill>
                            <a:schemeClr val="tx1"/>
                          </a:solidFill>
                          <a:effectLst/>
                        </a:rPr>
                        <a:t>AX</a:t>
                      </a:r>
                      <a:endParaRPr lang="en-PK" sz="1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4265978"/>
                  </a:ext>
                </a:extLst>
              </a:tr>
              <a:tr h="460884">
                <a:tc>
                  <a:txBody>
                    <a:bodyPr/>
                    <a:lstStyle/>
                    <a:p>
                      <a:pPr marL="87630">
                        <a:spcBef>
                          <a:spcPts val="355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200" spc="-5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Flow Control</a:t>
                      </a:r>
                      <a:endParaRPr lang="en-PK" sz="1800" b="1" kern="1200" spc="-5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87630">
                        <a:spcBef>
                          <a:spcPts val="355"/>
                        </a:spcBef>
                        <a:spcAft>
                          <a:spcPts val="0"/>
                        </a:spcAft>
                      </a:pPr>
                      <a:r>
                        <a:rPr lang="en-US" sz="1800" b="0" spc="-5">
                          <a:solidFill>
                            <a:schemeClr val="tx1"/>
                          </a:solidFill>
                          <a:effectLst/>
                        </a:rPr>
                        <a:t>g</a:t>
                      </a: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</a:rPr>
                        <a:t>oto </a:t>
                      </a:r>
                      <a:r>
                        <a:rPr lang="en-US" sz="1800" b="0" spc="5">
                          <a:solidFill>
                            <a:schemeClr val="tx1"/>
                          </a:solidFill>
                          <a:effectLst/>
                        </a:rPr>
                        <a:t>L</a:t>
                      </a:r>
                      <a:r>
                        <a:rPr lang="en-US" sz="1800" b="0">
                          <a:solidFill>
                            <a:schemeClr val="tx1"/>
                          </a:solidFill>
                          <a:effectLst/>
                        </a:rPr>
                        <a:t>BL</a:t>
                      </a:r>
                      <a:endParaRPr lang="en-PK" sz="12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87630">
                        <a:spcBef>
                          <a:spcPts val="355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J</a:t>
                      </a:r>
                      <a:r>
                        <a:rPr lang="en-US" sz="1800" b="0" spc="10" dirty="0">
                          <a:solidFill>
                            <a:schemeClr val="tx1"/>
                          </a:solidFill>
                          <a:effectLst/>
                        </a:rPr>
                        <a:t>M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P </a:t>
                      </a:r>
                      <a:r>
                        <a:rPr lang="en-US" sz="1800" b="0" spc="5" dirty="0">
                          <a:solidFill>
                            <a:schemeClr val="tx1"/>
                          </a:solidFill>
                          <a:effectLst/>
                        </a:rPr>
                        <a:t>L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BL</a:t>
                      </a:r>
                      <a:endParaRPr lang="en-PK" sz="1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77534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02105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5F17993-3FD3-4096-985D-EA90853744F2}"/>
              </a:ext>
            </a:extLst>
          </p:cNvPr>
          <p:cNvSpPr/>
          <p:nvPr/>
        </p:nvSpPr>
        <p:spPr>
          <a:xfrm>
            <a:off x="1101686" y="1258149"/>
            <a:ext cx="9663850" cy="25740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64465">
              <a:spcBef>
                <a:spcPts val="130"/>
              </a:spcBef>
              <a:spcAft>
                <a:spcPts val="0"/>
              </a:spcAft>
            </a:pPr>
            <a:r>
              <a:rPr lang="en-US" sz="2400" b="1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S</a:t>
            </a:r>
            <a:r>
              <a:rPr lang="en-US" sz="2400" b="1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mple </a:t>
            </a:r>
            <a:r>
              <a:rPr lang="en-US" sz="2400" b="1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M</a:t>
            </a:r>
            <a:r>
              <a:rPr lang="en-US" sz="2400" b="1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</a:t>
            </a:r>
            <a:r>
              <a:rPr lang="en-US" sz="2400" b="1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h</a:t>
            </a:r>
            <a:endParaRPr lang="en-PK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200"/>
              </a:lnSpc>
              <a:spcBef>
                <a:spcPts val="10"/>
              </a:spcBef>
              <a:spcAft>
                <a:spcPts val="0"/>
              </a:spcAft>
            </a:pP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PK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R="49530">
              <a:spcAft>
                <a:spcPts val="0"/>
              </a:spcAft>
            </a:pP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S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up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p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ose</a:t>
            </a:r>
            <a:r>
              <a:rPr lang="en-US" sz="2000" spc="-6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</a:t>
            </a:r>
            <a:r>
              <a:rPr lang="en-US" sz="2000" spc="-6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p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r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ocessor</a:t>
            </a:r>
            <a:r>
              <a:rPr lang="en-US" sz="2000" spc="-6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uses</a:t>
            </a:r>
            <a:r>
              <a:rPr lang="en-US" sz="2000" spc="-6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2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0</a:t>
            </a:r>
            <a:r>
              <a:rPr lang="en-US" sz="2000" spc="-6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bi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s</a:t>
            </a:r>
            <a:r>
              <a:rPr lang="en-US" sz="2000" spc="-6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f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o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r</a:t>
            </a:r>
            <a:r>
              <a:rPr lang="en-US" sz="2000" spc="-6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an</a:t>
            </a:r>
            <a:r>
              <a:rPr lang="en-US" sz="2000" spc="-5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d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dr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</a:t>
            </a:r>
            <a:r>
              <a:rPr lang="en-US" sz="2000" spc="1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s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s.</a:t>
            </a:r>
            <a:r>
              <a:rPr lang="en-US" sz="2000" spc="-5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H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ow</a:t>
            </a:r>
            <a:r>
              <a:rPr lang="en-US" sz="2000" spc="-6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many mem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or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y</a:t>
            </a:r>
            <a:r>
              <a:rPr lang="en-US" sz="2000" spc="-6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spc="1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b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y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s</a:t>
            </a:r>
            <a:r>
              <a:rPr lang="en-US" sz="2000" spc="-6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can</a:t>
            </a:r>
            <a:r>
              <a:rPr lang="en-US" sz="2000" spc="-6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be</a:t>
            </a:r>
            <a:r>
              <a:rPr lang="en-US" sz="2000" spc="-5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access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d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? </a:t>
            </a:r>
          </a:p>
          <a:p>
            <a:pPr marL="164465" marR="49530">
              <a:lnSpc>
                <a:spcPct val="165000"/>
              </a:lnSpc>
              <a:spcAft>
                <a:spcPts val="0"/>
              </a:spcAft>
            </a:pPr>
            <a:r>
              <a:rPr lang="en-US" sz="24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nswe</a:t>
            </a:r>
            <a:r>
              <a:rPr lang="en-US" sz="24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r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:</a:t>
            </a:r>
            <a:endParaRPr lang="en-PK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64465">
              <a:lnSpc>
                <a:spcPts val="1400"/>
              </a:lnSpc>
              <a:spcAft>
                <a:spcPts val="0"/>
              </a:spcAft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h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 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n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u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m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ber 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o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f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mem</a:t>
            </a:r>
            <a:r>
              <a:rPr lang="en-US" sz="2000" spc="1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o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r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y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b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y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</a:t>
            </a:r>
            <a:r>
              <a:rPr lang="en-US" sz="2000" spc="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e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s </a:t>
            </a:r>
            <a:r>
              <a:rPr lang="en-US" sz="2000" spc="-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w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ill be</a:t>
            </a:r>
            <a:r>
              <a:rPr lang="en-US" sz="2000" spc="2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sz="2000" spc="-5" dirty="0">
                <a:latin typeface="Cambria Math" panose="02040503050406030204" pitchFamily="18" charset="0"/>
                <a:ea typeface="Cambria Math" panose="02040503050406030204" pitchFamily="18" charset="0"/>
                <a:cs typeface="Cambria Math" panose="02040503050406030204" pitchFamily="18" charset="0"/>
              </a:rPr>
              <a:t>2</a:t>
            </a:r>
            <a:r>
              <a:rPr lang="en-US" sz="2000" spc="-5" baseline="30000" dirty="0">
                <a:latin typeface="Cambria Math" panose="02040503050406030204" pitchFamily="18" charset="0"/>
                <a:ea typeface="Cambria Math" panose="02040503050406030204" pitchFamily="18" charset="0"/>
                <a:cs typeface="Cambria Math" panose="02040503050406030204" pitchFamily="18" charset="0"/>
              </a:rPr>
              <a:t>20</a:t>
            </a:r>
            <a:r>
              <a:rPr lang="en-US" sz="1200" dirty="0">
                <a:effectLst/>
                <a:latin typeface="Cambria Math" panose="02040503050406030204" pitchFamily="18" charset="0"/>
                <a:ea typeface="Cambria Math" panose="02040503050406030204" pitchFamily="18" charset="0"/>
                <a:cs typeface="Cambria Math" panose="02040503050406030204" pitchFamily="18" charset="0"/>
              </a:rPr>
              <a:t> </a:t>
            </a:r>
            <a:r>
              <a:rPr lang="en-US" sz="1200" spc="50" dirty="0">
                <a:effectLst/>
                <a:latin typeface="Cambria Math" panose="02040503050406030204" pitchFamily="18" charset="0"/>
                <a:ea typeface="Cambria Math" panose="02040503050406030204" pitchFamily="18" charset="0"/>
                <a:cs typeface="Cambria Math" panose="02040503050406030204" pitchFamily="18" charset="0"/>
              </a:rPr>
              <a:t> </a:t>
            </a:r>
            <a:r>
              <a:rPr lang="en-US" sz="2000" dirty="0">
                <a:latin typeface="Cambria Math" panose="02040503050406030204" pitchFamily="18" charset="0"/>
                <a:ea typeface="Cambria Math" panose="02040503050406030204" pitchFamily="18" charset="0"/>
                <a:cs typeface="Cambria Math" panose="02040503050406030204" pitchFamily="18" charset="0"/>
              </a:rPr>
              <a:t>= 1024x1024 =</a:t>
            </a:r>
            <a:r>
              <a:rPr lang="en-US" sz="2000" spc="65" dirty="0">
                <a:latin typeface="Cambria Math" panose="02040503050406030204" pitchFamily="18" charset="0"/>
                <a:ea typeface="Cambria Math" panose="02040503050406030204" pitchFamily="18" charset="0"/>
                <a:cs typeface="Cambria Math" panose="02040503050406030204" pitchFamily="18" charset="0"/>
              </a:rPr>
              <a:t> </a:t>
            </a:r>
            <a:r>
              <a:rPr lang="en-US" sz="2000" spc="5" dirty="0">
                <a:latin typeface="Cambria Math" panose="02040503050406030204" pitchFamily="18" charset="0"/>
                <a:ea typeface="Cambria Math" panose="02040503050406030204" pitchFamily="18" charset="0"/>
                <a:cs typeface="Cambria Math" panose="02040503050406030204" pitchFamily="18" charset="0"/>
              </a:rPr>
              <a:t>1,</a:t>
            </a:r>
            <a:r>
              <a:rPr lang="en-US" sz="2000" spc="-5" dirty="0">
                <a:latin typeface="Cambria Math" panose="02040503050406030204" pitchFamily="18" charset="0"/>
                <a:ea typeface="Cambria Math" panose="02040503050406030204" pitchFamily="18" charset="0"/>
                <a:cs typeface="Cambria Math" panose="02040503050406030204" pitchFamily="18" charset="0"/>
              </a:rPr>
              <a:t>048</a:t>
            </a:r>
            <a:r>
              <a:rPr lang="en-US" sz="2000" spc="5" dirty="0">
                <a:latin typeface="Cambria Math" panose="02040503050406030204" pitchFamily="18" charset="0"/>
                <a:ea typeface="Cambria Math" panose="02040503050406030204" pitchFamily="18" charset="0"/>
                <a:cs typeface="Cambria Math" panose="02040503050406030204" pitchFamily="18" charset="0"/>
              </a:rPr>
              <a:t>,</a:t>
            </a:r>
            <a:r>
              <a:rPr lang="en-US" sz="2000" spc="-5" dirty="0">
                <a:latin typeface="Cambria Math" panose="02040503050406030204" pitchFamily="18" charset="0"/>
                <a:ea typeface="Cambria Math" panose="02040503050406030204" pitchFamily="18" charset="0"/>
                <a:cs typeface="Cambria Math" panose="02040503050406030204" pitchFamily="18" charset="0"/>
              </a:rPr>
              <a:t>57</a:t>
            </a:r>
            <a:r>
              <a:rPr lang="en-US" sz="2000" dirty="0">
                <a:latin typeface="Cambria Math" panose="02040503050406030204" pitchFamily="18" charset="0"/>
                <a:ea typeface="Cambria Math" panose="02040503050406030204" pitchFamily="18" charset="0"/>
                <a:cs typeface="Cambria Math" panose="02040503050406030204" pitchFamily="18" charset="0"/>
              </a:rPr>
              <a:t>6</a:t>
            </a:r>
            <a:r>
              <a:rPr lang="en-US" sz="2000" spc="80" dirty="0">
                <a:latin typeface="Cambria Math" panose="02040503050406030204" pitchFamily="18" charset="0"/>
                <a:ea typeface="Cambria Math" panose="02040503050406030204" pitchFamily="18" charset="0"/>
                <a:cs typeface="Cambria Math" panose="02040503050406030204" pitchFamily="18" charset="0"/>
              </a:rPr>
              <a:t> </a:t>
            </a:r>
            <a:r>
              <a:rPr lang="en-US" sz="2000" dirty="0">
                <a:latin typeface="Cambria Math" panose="02040503050406030204" pitchFamily="18" charset="0"/>
                <a:ea typeface="Cambria Math" panose="02040503050406030204" pitchFamily="18" charset="0"/>
                <a:cs typeface="Cambria Math" panose="02040503050406030204" pitchFamily="18" charset="0"/>
              </a:rPr>
              <a:t>=</a:t>
            </a:r>
            <a:r>
              <a:rPr lang="en-US" sz="2000" spc="65" dirty="0">
                <a:latin typeface="Cambria Math" panose="02040503050406030204" pitchFamily="18" charset="0"/>
                <a:ea typeface="Cambria Math" panose="02040503050406030204" pitchFamily="18" charset="0"/>
                <a:cs typeface="Cambria Math" panose="02040503050406030204" pitchFamily="18" charset="0"/>
              </a:rPr>
              <a:t> </a:t>
            </a:r>
            <a:r>
              <a:rPr lang="en-US" sz="2000" spc="-5" dirty="0">
                <a:latin typeface="Cambria Math" panose="02040503050406030204" pitchFamily="18" charset="0"/>
                <a:ea typeface="Cambria Math" panose="02040503050406030204" pitchFamily="18" charset="0"/>
                <a:cs typeface="Cambria Math" panose="02040503050406030204" pitchFamily="18" charset="0"/>
              </a:rPr>
              <a:t>1</a:t>
            </a:r>
            <a:r>
              <a:rPr lang="en-US" sz="2000" spc="5" dirty="0">
                <a:latin typeface="Cambria Math" panose="02040503050406030204" pitchFamily="18" charset="0"/>
                <a:ea typeface="Cambria Math" panose="02040503050406030204" pitchFamily="18" charset="0"/>
                <a:cs typeface="Cambria Math" panose="02040503050406030204" pitchFamily="18" charset="0"/>
              </a:rPr>
              <a:t>M</a:t>
            </a:r>
            <a:r>
              <a:rPr lang="en-US" sz="2000" dirty="0">
                <a:latin typeface="Cambria Math" panose="02040503050406030204" pitchFamily="18" charset="0"/>
                <a:ea typeface="Cambria Math" panose="02040503050406030204" pitchFamily="18" charset="0"/>
                <a:cs typeface="Cambria Math" panose="02040503050406030204" pitchFamily="18" charset="0"/>
              </a:rPr>
              <a:t>B</a:t>
            </a:r>
            <a:endParaRPr lang="en-PK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br>
              <a:rPr lang="en-US" dirty="0">
                <a:latin typeface="Cambria Math" panose="02040503050406030204" pitchFamily="18" charset="0"/>
                <a:ea typeface="Cambria Math" panose="02040503050406030204" pitchFamily="18" charset="0"/>
                <a:cs typeface="Cambria Math" panose="02040503050406030204" pitchFamily="18" charset="0"/>
              </a:rPr>
            </a:b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9656499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579</Words>
  <Application>Microsoft Office PowerPoint</Application>
  <PresentationFormat>Widescreen</PresentationFormat>
  <Paragraphs>80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Arial</vt:lpstr>
      <vt:lpstr>Calibri</vt:lpstr>
      <vt:lpstr>Calibri Light</vt:lpstr>
      <vt:lpstr>Cambria</vt:lpstr>
      <vt:lpstr>Cambria Math</vt:lpstr>
      <vt:lpstr>Times New Roman</vt:lpstr>
      <vt:lpstr>Verdana</vt:lpstr>
      <vt:lpstr>Office Theme</vt:lpstr>
      <vt:lpstr>Computer Organization &amp; Assembly Language 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Organization &amp; Assembly Language</dc:title>
  <dc:creator>Asim Munir</dc:creator>
  <cp:lastModifiedBy>Asim Munir</cp:lastModifiedBy>
  <cp:revision>7</cp:revision>
  <dcterms:created xsi:type="dcterms:W3CDTF">2025-02-23T12:40:10Z</dcterms:created>
  <dcterms:modified xsi:type="dcterms:W3CDTF">2026-02-25T05:26:22Z</dcterms:modified>
</cp:coreProperties>
</file>