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19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8936-A613-469A-A601-88BA344BD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E14C7-169E-45B1-A96C-7C66A5D04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74F3B-1401-4458-8BDB-AB5BB6AD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E8CF-7AB4-4785-9145-837FF9D5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F7F8-68A5-40F5-8312-A124FA67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359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0F05-6206-4C52-B215-37E9F5CB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1BE4-D2CD-4607-9B72-DE25AA8D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6CF7C-46DB-4088-99B0-C255348E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A0C2-388A-40CB-8832-A3D2953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D971-4F16-4F1D-9525-3715429E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645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0046-218A-431F-B8AB-7F84F4B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D719A-22B6-4643-A389-594592CEB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E6669-90B5-443A-9AF5-EA5E1A6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23C4-353B-4447-8CBF-8E78A405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EB961-4382-4C4E-8593-64DDB41E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597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4A3A-178C-497E-9E61-513B156D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541E-DFF6-4F35-AB34-E8FA6D2A5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2261B-78D3-4EA9-BBCC-60AC1B44E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3FAB4-5AEA-42FC-99FD-D2137ECD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AEF3-713E-40CB-9631-FCB58B2A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01E71-C2B5-477F-9C3F-98E1AE44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52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E84B-7D0D-45AC-B94D-B37B322A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EB08-FE00-47B3-8865-2F782CB7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3BFC5-285F-400C-9218-F856C69A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87643-6397-45C5-BF27-6923DD6CE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BCA24-CDA2-4966-990E-2C6E29591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86BACF-662A-430D-8232-2821F82F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6FFB4-260F-49C1-A942-3601C575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9F86E-4ED8-4288-BDC9-EAFC1CB1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639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F609-B5DC-4BEF-A0E7-0C44A3B5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2A118-2FB7-432A-9F9F-0B8DB92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3BAB-98A1-4D18-83FD-E49691D4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FBD72-737A-4E76-8701-1E7EE60A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55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A4398-042F-402F-A9F0-5956BDC6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F641D-55EA-44A3-95A1-41F1DD72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8FC64-C522-4EB0-A8A2-27460450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008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7C5D-BF9E-4684-AF4D-4EF2D05F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3CC7-CB72-49B7-8340-AF485BA4C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181E1-2B95-4B5F-9E22-C9131557A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49CB9-FC8D-480C-AD9F-8497909D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20296-DB2C-4BB0-956C-F61F41ED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8C9A-6EC3-41A1-8DD9-1FB65D2C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062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4483-29C9-49F1-8F00-08C0BA75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DD458-15D6-49A5-B4AC-802A0F23E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FC939-C573-4DC4-BCAD-744179DAE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35607-1260-4B85-A87B-487F7EE7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9D30-4D55-4100-98AE-84010DDC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4DC4F-A318-4DE4-9F73-B3D45CA8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65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39DB-88B9-4B66-B249-F98F6B29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B61FF-E025-4DE1-8977-B3913C4BE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176C-58FA-4A76-9DF4-F769A716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427F4-3F59-4481-B0D0-E8B8F2C5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001A-E16B-402E-BABB-B047FF8F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895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C386C-08E7-4A75-9746-11BFDDA60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302F5-82CD-4170-BE31-1C71967A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EF91-9462-4045-A73E-0AC0C4F8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74332-B921-4B4B-86C8-6C6C7EA5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AE71-4D4A-4CAA-8D5D-E8292640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25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F788E-6EE2-4640-ACB3-E1031F04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2E27-AE3A-4A40-9768-1D9F4622B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5B7DA-39A7-454C-92AC-BAF3F7AA3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3467D-5182-48FA-B1F9-90774ABF8E13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324B-42DB-4FE1-9C15-7CDA9EEC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29AC-FDD5-49F2-912A-E0BDA6B0F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76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3A9B-9EC9-4FF3-9C69-742539F24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9141"/>
            <a:ext cx="9144000" cy="2110821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Organization &amp;</a:t>
            </a:r>
            <a:br>
              <a:rPr lang="en-PK" dirty="0"/>
            </a:br>
            <a:r>
              <a:rPr lang="en-US" dirty="0"/>
              <a:t>Assembly Language</a:t>
            </a:r>
            <a:br>
              <a:rPr lang="en-PK" dirty="0"/>
            </a:br>
            <a:br>
              <a:rPr lang="en-US" dirty="0"/>
            </a:b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3881-96C1-4CED-B0E7-4B906B40A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03</a:t>
            </a:r>
          </a:p>
          <a:p>
            <a:r>
              <a:rPr lang="en-US" b="1" dirty="0"/>
              <a:t>Introduction to IBM PC Assembly Language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911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E9D600-78BB-47B1-B115-572AB381DAC7}"/>
              </a:ext>
            </a:extLst>
          </p:cNvPr>
          <p:cNvSpPr/>
          <p:nvPr/>
        </p:nvSpPr>
        <p:spPr>
          <a:xfrm>
            <a:off x="1167789" y="1099213"/>
            <a:ext cx="947450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OBJECTIVES</a:t>
            </a:r>
            <a:r>
              <a:rPr lang="en-US" sz="2800" dirty="0"/>
              <a:t>:</a:t>
            </a:r>
            <a:endParaRPr lang="en-PK" sz="2800" dirty="0"/>
          </a:p>
          <a:p>
            <a:r>
              <a:rPr lang="en-US" sz="2400" dirty="0"/>
              <a:t>•  Students will come to know the syntax of Assembly language.</a:t>
            </a:r>
            <a:endParaRPr lang="en-PK" sz="2400" dirty="0"/>
          </a:p>
          <a:p>
            <a:r>
              <a:rPr lang="en-US" sz="2400" dirty="0"/>
              <a:t>•  They will acquire knowledge on program data, variables and named constants.</a:t>
            </a:r>
            <a:endParaRPr lang="en-PK" sz="2400" dirty="0"/>
          </a:p>
          <a:p>
            <a:r>
              <a:rPr lang="en-US" sz="2400" dirty="0"/>
              <a:t>•  They will get to know about a few basic instructions of assembly language.</a:t>
            </a:r>
            <a:endParaRPr lang="en-PK" sz="2400" dirty="0"/>
          </a:p>
          <a:p>
            <a:r>
              <a:rPr lang="en-US" sz="2400" dirty="0"/>
              <a:t>•  Students will be able to Translate high-level language to assembly language.</a:t>
            </a:r>
            <a:endParaRPr lang="en-PK" sz="2400" dirty="0"/>
          </a:p>
          <a:p>
            <a:r>
              <a:rPr lang="en-US" sz="2400" dirty="0"/>
              <a:t>•  They will come to know about program structure of assembly language.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21296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82F9A-DFF9-4568-A69C-7AA66B30E929}"/>
              </a:ext>
            </a:extLst>
          </p:cNvPr>
          <p:cNvSpPr/>
          <p:nvPr/>
        </p:nvSpPr>
        <p:spPr>
          <a:xfrm>
            <a:off x="1311008" y="978331"/>
            <a:ext cx="977196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Assembly Language Syntax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Statements are of two types: Instruction and Assembler Directive.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Statements can be written in the form: Name </a:t>
            </a:r>
            <a:r>
              <a:rPr lang="en-US" sz="2000" dirty="0" err="1"/>
              <a:t>Operation_Field</a:t>
            </a:r>
            <a:r>
              <a:rPr lang="en-US" sz="2000" dirty="0"/>
              <a:t> Operand(s)_Field Comment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Example: Instruction - START: MOV CX,5; initialize counter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Assembler directive- MAIN PROC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b="1" dirty="0"/>
              <a:t>Name Field</a:t>
            </a:r>
            <a:endParaRPr lang="en-PK" sz="2000" dirty="0"/>
          </a:p>
          <a:p>
            <a:r>
              <a:rPr lang="en-US" sz="2000" dirty="0"/>
              <a:t> Used for instruction labels, procedure names and variable names. Assembler translates name into memory address. Names can be 1 to 31 characters long and may consist of letters, digits or special characters. If period is used, it must be first character. Embedded blanks are not allowed. May not begin with a digit. Not case sensitive.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14223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995025-504C-4C20-8D22-DC00B61A2849}"/>
              </a:ext>
            </a:extLst>
          </p:cNvPr>
          <p:cNvSpPr/>
          <p:nvPr/>
        </p:nvSpPr>
        <p:spPr>
          <a:xfrm>
            <a:off x="730893" y="1030615"/>
            <a:ext cx="963975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Operation Field</a:t>
            </a:r>
            <a:endParaRPr lang="en-PK" sz="2000" dirty="0"/>
          </a:p>
          <a:p>
            <a:r>
              <a:rPr lang="en-US" sz="2000" dirty="0"/>
              <a:t> Contains symbolic (Operation code). Assembler translates op code translated into machine language op code. Examples: ADD, MOV, SUB.</a:t>
            </a:r>
            <a:endParaRPr lang="en-PK" sz="2000" dirty="0"/>
          </a:p>
          <a:p>
            <a:r>
              <a:rPr lang="en-US" sz="2000" dirty="0"/>
              <a:t>In an assembler directive, the operation field represents pseudo-op code. Pseudo-op code is not translated into machine code; it only tells assembler to do something. Example: PROC</a:t>
            </a:r>
            <a:endParaRPr lang="en-PK" sz="2000" dirty="0"/>
          </a:p>
          <a:p>
            <a:r>
              <a:rPr lang="en-US" sz="2000" dirty="0"/>
              <a:t>pseudo-op is used to create a procedure.</a:t>
            </a:r>
            <a:endParaRPr lang="en-PK" sz="2000" dirty="0"/>
          </a:p>
          <a:p>
            <a:r>
              <a:rPr lang="en-US" sz="2000" dirty="0"/>
              <a:t>  </a:t>
            </a:r>
            <a:endParaRPr lang="en-PK" sz="2000" dirty="0"/>
          </a:p>
          <a:p>
            <a:r>
              <a:rPr lang="en-US" sz="2000" b="1" dirty="0"/>
              <a:t>Operand Field</a:t>
            </a:r>
            <a:endParaRPr lang="en-PK" sz="2000" dirty="0"/>
          </a:p>
          <a:p>
            <a:r>
              <a:rPr lang="en-US" sz="2000" dirty="0"/>
              <a:t> Specifies the data that are to be acted on by the operation. An instruction may have zero, one or more operands. In two-operand instruction, first operand is destination, second operand is source. For an assembler directive, operand field represents more information about the directive. Examples: NOP, INC AX, ADD WORD1, 2.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 </a:t>
            </a:r>
            <a:r>
              <a:rPr lang="en-US" sz="2000" b="1" dirty="0"/>
              <a:t>Comment Field</a:t>
            </a:r>
            <a:endParaRPr lang="en-PK" sz="2000" dirty="0"/>
          </a:p>
          <a:p>
            <a:r>
              <a:rPr lang="en-US" sz="2000" dirty="0"/>
              <a:t> Say something about what the statement does. Marked by semicolon in the beginning. Assembler ignores anything after semicolon. It is optional but a good practice.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25499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A8A66F-F042-448D-9AC0-13617F2AAC5E}"/>
              </a:ext>
            </a:extLst>
          </p:cNvPr>
          <p:cNvSpPr/>
          <p:nvPr/>
        </p:nvSpPr>
        <p:spPr>
          <a:xfrm>
            <a:off x="793214" y="684632"/>
            <a:ext cx="9926198" cy="436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Program Data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Processor operates only on binary data. Data can be given as a number or a character.</a:t>
            </a:r>
            <a:endParaRPr lang="en-PK" dirty="0"/>
          </a:p>
          <a:p>
            <a:r>
              <a:rPr lang="en-US" dirty="0"/>
              <a:t> •    Numbers</a:t>
            </a:r>
            <a:endParaRPr lang="en-PK" dirty="0"/>
          </a:p>
          <a:p>
            <a:r>
              <a:rPr lang="en-US" dirty="0"/>
              <a:t> •    Binary</a:t>
            </a:r>
            <a:endParaRPr lang="en-PK" dirty="0"/>
          </a:p>
          <a:p>
            <a:r>
              <a:rPr lang="en-US" dirty="0"/>
              <a:t> •    Decimal</a:t>
            </a:r>
            <a:endParaRPr lang="en-PK" dirty="0"/>
          </a:p>
          <a:p>
            <a:r>
              <a:rPr lang="en-US" dirty="0"/>
              <a:t> •    Hexadecimal</a:t>
            </a:r>
            <a:endParaRPr lang="en-PK" dirty="0"/>
          </a:p>
          <a:p>
            <a:r>
              <a:rPr lang="en-US" dirty="0"/>
              <a:t> •    Characters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b="1" dirty="0"/>
              <a:t>Named Constants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•    Use symbolic name for a constant quantity</a:t>
            </a:r>
            <a:endParaRPr lang="en-PK" dirty="0"/>
          </a:p>
          <a:p>
            <a:r>
              <a:rPr lang="en-US" dirty="0"/>
              <a:t> •    Syntax:</a:t>
            </a:r>
            <a:endParaRPr lang="en-PK" dirty="0"/>
          </a:p>
          <a:p>
            <a:r>
              <a:rPr lang="en-US" dirty="0"/>
              <a:t>      name    EQU    constant</a:t>
            </a:r>
            <a:endParaRPr lang="en-PK" dirty="0"/>
          </a:p>
          <a:p>
            <a:r>
              <a:rPr lang="en-US" dirty="0"/>
              <a:t>   </a:t>
            </a:r>
            <a:endParaRPr lang="en-PK" dirty="0"/>
          </a:p>
          <a:p>
            <a:pPr>
              <a:lnSpc>
                <a:spcPts val="9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5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A57A3E-C9E9-45DD-8A2A-C7DF2636EFBA}"/>
              </a:ext>
            </a:extLst>
          </p:cNvPr>
          <p:cNvSpPr/>
          <p:nvPr/>
        </p:nvSpPr>
        <p:spPr>
          <a:xfrm>
            <a:off x="1344059" y="837645"/>
            <a:ext cx="893467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Variables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•    Each variable has a data type and is assigned a memory address by the program.</a:t>
            </a:r>
            <a:endParaRPr lang="en-PK" dirty="0"/>
          </a:p>
          <a:p>
            <a:r>
              <a:rPr lang="en-US" dirty="0"/>
              <a:t>  Possible Values: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•    8-bit Number Range: Signed (-128 to 127), Unsigned (0 to 255)</a:t>
            </a:r>
            <a:endParaRPr lang="en-PK" dirty="0"/>
          </a:p>
          <a:p>
            <a:r>
              <a:rPr lang="en-US" dirty="0"/>
              <a:t>•    16-bit Number Range: Signed (-32,678 to 32767), Unsigned (0 to 65,535)</a:t>
            </a:r>
            <a:endParaRPr lang="en-PK" dirty="0"/>
          </a:p>
          <a:p>
            <a:r>
              <a:rPr lang="en-US" dirty="0"/>
              <a:t>•    ? - To leave variable uninitialized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  Mainly three types</a:t>
            </a:r>
            <a:endParaRPr lang="en-PK" dirty="0"/>
          </a:p>
          <a:p>
            <a:r>
              <a:rPr lang="en-US" dirty="0"/>
              <a:t> </a:t>
            </a:r>
            <a:endParaRPr lang="en-PK" dirty="0"/>
          </a:p>
          <a:p>
            <a:r>
              <a:rPr lang="en-US" dirty="0"/>
              <a:t>•    Byte Variables</a:t>
            </a:r>
            <a:endParaRPr lang="en-PK" dirty="0"/>
          </a:p>
          <a:p>
            <a:r>
              <a:rPr lang="en-US" dirty="0"/>
              <a:t>•    Word Variables</a:t>
            </a:r>
          </a:p>
          <a:p>
            <a:r>
              <a:rPr lang="en-US" dirty="0"/>
              <a:t>•    Others</a:t>
            </a:r>
            <a:endParaRPr lang="en-PK" dirty="0"/>
          </a:p>
          <a:p>
            <a:r>
              <a:rPr lang="en-US" dirty="0"/>
              <a:t>•    Arrays</a:t>
            </a:r>
            <a:endParaRPr lang="en-PK" dirty="0"/>
          </a:p>
          <a:p>
            <a:br>
              <a:rPr lang="en-US" dirty="0"/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3310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2BF937-39E2-4A1B-BC34-52F4FBF49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35191"/>
              </p:ext>
            </p:extLst>
          </p:nvPr>
        </p:nvGraphicFramePr>
        <p:xfrm>
          <a:off x="1897913" y="1913860"/>
          <a:ext cx="6878424" cy="310406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84321">
                  <a:extLst>
                    <a:ext uri="{9D8B030D-6E8A-4147-A177-3AD203B41FA5}">
                      <a16:colId xmlns:a16="http://schemas.microsoft.com/office/drawing/2014/main" val="963664395"/>
                    </a:ext>
                  </a:extLst>
                </a:gridCol>
                <a:gridCol w="1940005">
                  <a:extLst>
                    <a:ext uri="{9D8B030D-6E8A-4147-A177-3AD203B41FA5}">
                      <a16:colId xmlns:a16="http://schemas.microsoft.com/office/drawing/2014/main" val="1856982691"/>
                    </a:ext>
                  </a:extLst>
                </a:gridCol>
                <a:gridCol w="727605">
                  <a:extLst>
                    <a:ext uri="{9D8B030D-6E8A-4147-A177-3AD203B41FA5}">
                      <a16:colId xmlns:a16="http://schemas.microsoft.com/office/drawing/2014/main" val="1636407691"/>
                    </a:ext>
                  </a:extLst>
                </a:gridCol>
                <a:gridCol w="2826493">
                  <a:extLst>
                    <a:ext uri="{9D8B030D-6E8A-4147-A177-3AD203B41FA5}">
                      <a16:colId xmlns:a16="http://schemas.microsoft.com/office/drawing/2014/main" val="2218216699"/>
                    </a:ext>
                  </a:extLst>
                </a:gridCol>
              </a:tblGrid>
              <a:tr h="333702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15">
                          <a:effectLst/>
                        </a:rPr>
                        <a:t>P</a:t>
                      </a:r>
                      <a:r>
                        <a:rPr lang="en-US" sz="1200">
                          <a:effectLst/>
                        </a:rPr>
                        <a:t>seudo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-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5">
                          <a:effectLst/>
                        </a:rPr>
                        <a:t>ps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escr</a:t>
                      </a:r>
                      <a:r>
                        <a:rPr lang="en-US" sz="1200" spc="-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p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 spc="-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15">
                          <a:effectLst/>
                        </a:rPr>
                        <a:t>B</a:t>
                      </a:r>
                      <a:r>
                        <a:rPr lang="en-US" sz="1200">
                          <a:effectLst/>
                        </a:rPr>
                        <a:t>y</a:t>
                      </a:r>
                      <a:r>
                        <a:rPr lang="en-US" sz="1200" spc="-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es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</a:t>
                      </a:r>
                      <a:r>
                        <a:rPr lang="en-US" sz="1200" spc="-15" dirty="0">
                          <a:effectLst/>
                        </a:rPr>
                        <a:t>x</a:t>
                      </a:r>
                      <a:r>
                        <a:rPr lang="en-US" sz="1200" spc="5" dirty="0">
                          <a:effectLst/>
                        </a:rPr>
                        <a:t>a</a:t>
                      </a:r>
                      <a:r>
                        <a:rPr lang="en-US" sz="1200" dirty="0">
                          <a:effectLst/>
                        </a:rPr>
                        <a:t>mples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14707091"/>
                  </a:ext>
                </a:extLst>
              </a:tr>
              <a:tr h="728411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DB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Define </a:t>
                      </a:r>
                      <a:r>
                        <a:rPr lang="en-US" sz="1200" spc="-15" dirty="0">
                          <a:effectLst/>
                        </a:rPr>
                        <a:t>B</a:t>
                      </a:r>
                      <a:r>
                        <a:rPr lang="en-US" sz="1200" spc="-5" dirty="0">
                          <a:effectLst/>
                        </a:rPr>
                        <a:t>y</a:t>
                      </a:r>
                      <a:r>
                        <a:rPr lang="en-US" sz="1200" spc="-10" dirty="0">
                          <a:effectLst/>
                        </a:rPr>
                        <a:t>t</a:t>
                      </a:r>
                      <a:r>
                        <a:rPr lang="en-US" sz="1200" dirty="0">
                          <a:effectLst/>
                        </a:rPr>
                        <a:t>e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30">
                          <a:effectLst/>
                        </a:rPr>
                        <a:t>v</a:t>
                      </a:r>
                      <a:r>
                        <a:rPr lang="en-US" sz="1200">
                          <a:effectLst/>
                        </a:rPr>
                        <a:t>ar1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DB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 spc="10">
                          <a:effectLst/>
                        </a:rPr>
                        <a:t>‘</a:t>
                      </a:r>
                      <a:r>
                        <a:rPr lang="en-US" sz="1200" spc="-5">
                          <a:effectLst/>
                        </a:rPr>
                        <a:t>A</a:t>
                      </a:r>
                      <a:r>
                        <a:rPr lang="en-US" sz="1200">
                          <a:effectLst/>
                        </a:rPr>
                        <a:t>’</a:t>
                      </a:r>
                      <a:endParaRPr lang="en-PK" sz="1000">
                        <a:effectLst/>
                      </a:endParaRPr>
                    </a:p>
                    <a:p>
                      <a:pPr marL="8763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</a:t>
                      </a:r>
                      <a:r>
                        <a:rPr lang="en-US" sz="1200" spc="-30">
                          <a:effectLst/>
                        </a:rPr>
                        <a:t>r</a:t>
                      </a:r>
                      <a:r>
                        <a:rPr lang="en-US" sz="1200" spc="-20">
                          <a:effectLst/>
                        </a:rPr>
                        <a:t>a</a:t>
                      </a:r>
                      <a:r>
                        <a:rPr lang="en-US" sz="1200" spc="-5">
                          <a:effectLst/>
                        </a:rPr>
                        <a:t>y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DB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 spc="5">
                          <a:effectLst/>
                        </a:rPr>
                        <a:t>1</a:t>
                      </a:r>
                      <a:r>
                        <a:rPr lang="en-US" sz="1200" spc="-5">
                          <a:effectLst/>
                        </a:rPr>
                        <a:t>0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en-US" sz="1200" spc="10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20</a:t>
                      </a:r>
                      <a:r>
                        <a:rPr lang="en-US" sz="1200" spc="5">
                          <a:effectLst/>
                        </a:rPr>
                        <a:t>,</a:t>
                      </a:r>
                      <a:r>
                        <a:rPr lang="en-US" sz="1200" spc="-5">
                          <a:effectLst/>
                        </a:rPr>
                        <a:t>30</a:t>
                      </a:r>
                      <a:r>
                        <a:rPr lang="en-US" sz="1200" spc="5">
                          <a:effectLst/>
                        </a:rPr>
                        <a:t>,</a:t>
                      </a:r>
                      <a:r>
                        <a:rPr lang="en-US" sz="1200" spc="-5">
                          <a:effectLst/>
                        </a:rPr>
                        <a:t>4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97830201"/>
                  </a:ext>
                </a:extLst>
              </a:tr>
              <a:tr h="719394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20">
                          <a:effectLst/>
                        </a:rPr>
                        <a:t>DW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Define </a:t>
                      </a:r>
                      <a:r>
                        <a:rPr lang="en-US" sz="1200" spc="-75">
                          <a:effectLst/>
                        </a:rPr>
                        <a:t>W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2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d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30">
                          <a:effectLst/>
                        </a:rPr>
                        <a:t>v</a:t>
                      </a:r>
                      <a:r>
                        <a:rPr lang="en-US" sz="1200">
                          <a:effectLst/>
                        </a:rPr>
                        <a:t>ar2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DW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‘</a:t>
                      </a:r>
                      <a:r>
                        <a:rPr lang="en-US" sz="1200" spc="-5">
                          <a:effectLst/>
                        </a:rPr>
                        <a:t>A</a:t>
                      </a:r>
                      <a:r>
                        <a:rPr lang="en-US" sz="1200">
                          <a:effectLst/>
                        </a:rPr>
                        <a:t>B’</a:t>
                      </a:r>
                      <a:endParaRPr lang="en-PK" sz="1000">
                        <a:effectLst/>
                      </a:endParaRPr>
                    </a:p>
                    <a:p>
                      <a:pPr marL="87630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</a:t>
                      </a:r>
                      <a:r>
                        <a:rPr lang="en-US" sz="1200" spc="-30">
                          <a:effectLst/>
                        </a:rPr>
                        <a:t>r</a:t>
                      </a:r>
                      <a:r>
                        <a:rPr lang="en-US" sz="1200" spc="-20">
                          <a:effectLst/>
                        </a:rPr>
                        <a:t>a</a:t>
                      </a:r>
                      <a:r>
                        <a:rPr lang="en-US" sz="1200" spc="-5">
                          <a:effectLst/>
                        </a:rPr>
                        <a:t>y</a:t>
                      </a:r>
                      <a:r>
                        <a:rPr lang="en-US" sz="1200">
                          <a:effectLst/>
                        </a:rPr>
                        <a:t>2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DW</a:t>
                      </a:r>
                      <a:r>
                        <a:rPr lang="en-US" sz="1200" spc="-5">
                          <a:effectLst/>
                        </a:rPr>
                        <a:t> 10</a:t>
                      </a:r>
                      <a:r>
                        <a:rPr lang="en-US" sz="1200" spc="5">
                          <a:effectLst/>
                        </a:rPr>
                        <a:t>0</a:t>
                      </a:r>
                      <a:r>
                        <a:rPr lang="en-US" sz="1200" spc="-5">
                          <a:effectLst/>
                        </a:rPr>
                        <a:t>0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2</a:t>
                      </a:r>
                      <a:r>
                        <a:rPr lang="en-US" sz="1200" spc="5">
                          <a:effectLst/>
                        </a:rPr>
                        <a:t>0</a:t>
                      </a:r>
                      <a:r>
                        <a:rPr lang="en-US" sz="1200" spc="-5">
                          <a:effectLst/>
                        </a:rPr>
                        <a:t>0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3400075"/>
                  </a:ext>
                </a:extLst>
              </a:tr>
              <a:tr h="434843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DD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Define D</a:t>
                      </a:r>
                      <a:r>
                        <a:rPr lang="en-US" sz="1200" spc="-5">
                          <a:effectLst/>
                        </a:rPr>
                        <a:t>o</a:t>
                      </a:r>
                      <a:r>
                        <a:rPr lang="en-US" sz="1200">
                          <a:effectLst/>
                        </a:rPr>
                        <a:t>uble </a:t>
                      </a:r>
                      <a:r>
                        <a:rPr lang="en-US" sz="1200" spc="-70">
                          <a:effectLst/>
                        </a:rPr>
                        <a:t>W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2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d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75">
                          <a:effectLst/>
                        </a:rPr>
                        <a:t>V</a:t>
                      </a:r>
                      <a:r>
                        <a:rPr lang="en-US" sz="1200">
                          <a:effectLst/>
                        </a:rPr>
                        <a:t>ar3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DD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-</a:t>
                      </a:r>
                      <a:r>
                        <a:rPr lang="en-US" sz="1200" spc="-5">
                          <a:effectLst/>
                        </a:rPr>
                        <a:t>2</a:t>
                      </a:r>
                      <a:r>
                        <a:rPr lang="en-US" sz="1200" spc="5">
                          <a:effectLst/>
                        </a:rPr>
                        <a:t>1</a:t>
                      </a:r>
                      <a:r>
                        <a:rPr lang="en-US" sz="1200" spc="-5">
                          <a:effectLst/>
                        </a:rPr>
                        <a:t>4</a:t>
                      </a:r>
                      <a:r>
                        <a:rPr lang="en-US" sz="1200" spc="5">
                          <a:effectLst/>
                        </a:rPr>
                        <a:t>7</a:t>
                      </a:r>
                      <a:r>
                        <a:rPr lang="en-US" sz="1200" spc="-5">
                          <a:effectLst/>
                        </a:rPr>
                        <a:t>43</a:t>
                      </a:r>
                      <a:r>
                        <a:rPr lang="en-US" sz="1200" spc="5">
                          <a:effectLst/>
                        </a:rPr>
                        <a:t>6</a:t>
                      </a:r>
                      <a:r>
                        <a:rPr lang="en-US" sz="1200" spc="-5">
                          <a:effectLst/>
                        </a:rPr>
                        <a:t>4</a:t>
                      </a:r>
                      <a:r>
                        <a:rPr lang="en-US" sz="1200">
                          <a:effectLst/>
                        </a:rPr>
                        <a:t>8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49309592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DQ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Define </a:t>
                      </a:r>
                      <a:r>
                        <a:rPr lang="en-US" sz="1200" spc="-5">
                          <a:effectLst/>
                        </a:rPr>
                        <a:t>Q</a:t>
                      </a:r>
                      <a:r>
                        <a:rPr lang="en-US" sz="1200">
                          <a:effectLst/>
                        </a:rPr>
                        <a:t>uad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 spc="-75">
                          <a:effectLst/>
                        </a:rPr>
                        <a:t>W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2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d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-75" dirty="0">
                          <a:effectLst/>
                        </a:rPr>
                        <a:t>V</a:t>
                      </a:r>
                      <a:r>
                        <a:rPr lang="en-US" sz="1200" dirty="0">
                          <a:effectLst/>
                        </a:rPr>
                        <a:t>ar4 </a:t>
                      </a:r>
                      <a:r>
                        <a:rPr lang="en-US" sz="1200" spc="-5" dirty="0">
                          <a:effectLst/>
                        </a:rPr>
                        <a:t>D</a:t>
                      </a: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?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66167738"/>
                  </a:ext>
                </a:extLst>
              </a:tr>
              <a:tr h="449871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30">
                          <a:effectLst/>
                        </a:rPr>
                        <a:t>DT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l" defTabSz="914400" rtl="0" eaLnBrk="1" latinLnBrk="0" hangingPunct="1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 Ten Bytes</a:t>
                      </a:r>
                      <a:endParaRPr lang="en-PK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l" defTabSz="914400" rtl="0" eaLnBrk="1" latinLnBrk="0" hangingPunct="1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PK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75" dirty="0">
                          <a:effectLst/>
                        </a:rPr>
                        <a:t>V</a:t>
                      </a:r>
                      <a:r>
                        <a:rPr lang="en-US" sz="1200" dirty="0">
                          <a:effectLst/>
                        </a:rPr>
                        <a:t>ar </a:t>
                      </a:r>
                      <a:r>
                        <a:rPr lang="en-US" sz="1200" spc="-15" dirty="0">
                          <a:effectLst/>
                        </a:rPr>
                        <a:t>D</a:t>
                      </a:r>
                      <a:r>
                        <a:rPr lang="en-US" sz="1200" dirty="0">
                          <a:effectLst/>
                        </a:rPr>
                        <a:t>T ?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56741256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38F4F17C-697D-470E-BD19-E39E07DB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62" y="890455"/>
            <a:ext cx="600414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Data Defining Pseudo-Ops</a:t>
            </a:r>
            <a:endParaRPr kumimoji="0" lang="en-US" altLang="en-PK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64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F8FB7-8464-4023-917B-BEE4A3088063}"/>
              </a:ext>
            </a:extLst>
          </p:cNvPr>
          <p:cNvSpPr/>
          <p:nvPr/>
        </p:nvSpPr>
        <p:spPr>
          <a:xfrm>
            <a:off x="835446" y="644386"/>
            <a:ext cx="1052110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 Few Basic Instructions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•    MOV</a:t>
            </a:r>
            <a:endParaRPr lang="en-PK" sz="2000" dirty="0"/>
          </a:p>
          <a:p>
            <a:r>
              <a:rPr lang="en-US" sz="2000" dirty="0"/>
              <a:t> Transfer data between registers, between register and a memory location or move a number directly to a register or a memory location.</a:t>
            </a:r>
            <a:endParaRPr lang="en-PK" sz="2000" dirty="0"/>
          </a:p>
          <a:p>
            <a:r>
              <a:rPr lang="en-US" sz="2000" dirty="0"/>
              <a:t>Syntax: MOV destination, source</a:t>
            </a:r>
            <a:endParaRPr lang="en-PK" sz="2000" dirty="0"/>
          </a:p>
          <a:p>
            <a:r>
              <a:rPr lang="en-US" sz="2000" dirty="0"/>
              <a:t>Example: MOV AX, WORD1</a:t>
            </a:r>
            <a:endParaRPr lang="en-PK" sz="2000" dirty="0"/>
          </a:p>
          <a:p>
            <a:r>
              <a:rPr lang="en-US" sz="2000" dirty="0"/>
              <a:t>  </a:t>
            </a:r>
            <a:endParaRPr lang="en-PK" sz="2000" dirty="0"/>
          </a:p>
          <a:p>
            <a:r>
              <a:rPr lang="en-US" sz="2000" dirty="0"/>
              <a:t>•    XCHG</a:t>
            </a:r>
            <a:endParaRPr lang="en-PK" sz="2000" dirty="0"/>
          </a:p>
          <a:p>
            <a:r>
              <a:rPr lang="en-US" sz="2000" dirty="0"/>
              <a:t> Exchange the contents of two registers or register and a memory location. Syntax: XCHG destination, source</a:t>
            </a:r>
            <a:endParaRPr lang="en-PK" sz="2000" dirty="0"/>
          </a:p>
          <a:p>
            <a:r>
              <a:rPr lang="en-US" sz="2000" dirty="0"/>
              <a:t>Example: XCHG AH, BL</a:t>
            </a:r>
            <a:endParaRPr lang="en-PK" sz="2000" dirty="0"/>
          </a:p>
          <a:p>
            <a:r>
              <a:rPr lang="en-US" sz="2000" dirty="0"/>
              <a:t>  </a:t>
            </a:r>
            <a:endParaRPr lang="en-PK" sz="2000" dirty="0"/>
          </a:p>
          <a:p>
            <a:r>
              <a:rPr lang="en-US" sz="2000" dirty="0"/>
              <a:t>•    ADD</a:t>
            </a:r>
            <a:endParaRPr lang="en-PK" sz="2000" dirty="0"/>
          </a:p>
          <a:p>
            <a:r>
              <a:rPr lang="en-US" sz="2000" dirty="0"/>
              <a:t> To add contents of two registers, a register and a memory location, a number to a register or a number to a memory location.</a:t>
            </a:r>
            <a:endParaRPr lang="en-PK" sz="2000" dirty="0"/>
          </a:p>
          <a:p>
            <a:r>
              <a:rPr lang="en-US" sz="2000" dirty="0"/>
              <a:t>Syntax: ADD destination, source</a:t>
            </a:r>
            <a:endParaRPr lang="en-PK" sz="2000" dirty="0"/>
          </a:p>
          <a:p>
            <a:r>
              <a:rPr lang="en-US" sz="2000" dirty="0"/>
              <a:t>Example: ADD WORD1, AX</a:t>
            </a:r>
            <a:endParaRPr lang="en-PK" sz="2000" dirty="0"/>
          </a:p>
          <a:p>
            <a:br>
              <a:rPr lang="en-US" dirty="0"/>
            </a:br>
            <a:endParaRPr lang="en-P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68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F8FB7-8464-4023-917B-BEE4A3088063}"/>
              </a:ext>
            </a:extLst>
          </p:cNvPr>
          <p:cNvSpPr/>
          <p:nvPr/>
        </p:nvSpPr>
        <p:spPr>
          <a:xfrm>
            <a:off x="835446" y="644386"/>
            <a:ext cx="1052110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• SUB</a:t>
            </a:r>
            <a:endParaRPr lang="en-PK" sz="2000" dirty="0"/>
          </a:p>
          <a:p>
            <a:r>
              <a:rPr lang="en-US" sz="2000" dirty="0"/>
              <a:t>To subtract the contents of two registers, a register and a memory location, a number from a register or a number from a memory location.</a:t>
            </a:r>
            <a:endParaRPr lang="en-PK" sz="2000" dirty="0"/>
          </a:p>
          <a:p>
            <a:r>
              <a:rPr lang="en-US" sz="2000" dirty="0"/>
              <a:t>Syntax: SUB destination, source</a:t>
            </a:r>
            <a:endParaRPr lang="en-PK" sz="2000" dirty="0"/>
          </a:p>
          <a:p>
            <a:r>
              <a:rPr lang="en-US" sz="2000" dirty="0"/>
              <a:t>Example: SUB AX, DX</a:t>
            </a:r>
            <a:endParaRPr lang="en-PK" sz="2000" dirty="0"/>
          </a:p>
          <a:p>
            <a:br>
              <a:rPr lang="en-US" sz="2000" dirty="0"/>
            </a:br>
            <a:r>
              <a:rPr lang="en-US" sz="2000" dirty="0"/>
              <a:t>•    INC</a:t>
            </a:r>
            <a:endParaRPr lang="en-PK" sz="2000" dirty="0"/>
          </a:p>
          <a:p>
            <a:r>
              <a:rPr lang="en-US" sz="2000" dirty="0"/>
              <a:t>To increment one to the contents of a register or memory location. Syntax: INC destination</a:t>
            </a:r>
            <a:endParaRPr lang="en-PK" sz="2000" dirty="0"/>
          </a:p>
          <a:p>
            <a:r>
              <a:rPr lang="en-US" sz="2000" dirty="0"/>
              <a:t>Example: INC WORD1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•    DEC</a:t>
            </a:r>
            <a:endParaRPr lang="en-PK" sz="2000" dirty="0"/>
          </a:p>
          <a:p>
            <a:r>
              <a:rPr lang="en-US" sz="2000" dirty="0"/>
              <a:t>To decrement one from the contents of a register or memory location. Syntax: DEC destination</a:t>
            </a:r>
            <a:endParaRPr lang="en-PK" sz="2000" dirty="0"/>
          </a:p>
          <a:p>
            <a:r>
              <a:rPr lang="en-US" sz="2000" dirty="0"/>
              <a:t>Example: DEC BYTE1</a:t>
            </a:r>
            <a:endParaRPr lang="en-PK" sz="2000" dirty="0"/>
          </a:p>
          <a:p>
            <a:r>
              <a:rPr lang="en-US" sz="2000" dirty="0"/>
              <a:t> </a:t>
            </a:r>
            <a:endParaRPr lang="en-PK" sz="2000" dirty="0"/>
          </a:p>
          <a:p>
            <a:r>
              <a:rPr lang="en-US" sz="2000" dirty="0"/>
              <a:t>•    NEG</a:t>
            </a:r>
            <a:endParaRPr lang="en-PK" sz="2000" dirty="0"/>
          </a:p>
          <a:p>
            <a:r>
              <a:rPr lang="en-US" sz="2000" dirty="0"/>
              <a:t>To negate the contents of destination. Syntax: NEG destination</a:t>
            </a:r>
            <a:endParaRPr lang="en-PK" sz="2000" dirty="0"/>
          </a:p>
          <a:p>
            <a:r>
              <a:rPr lang="en-US" sz="2000" dirty="0"/>
              <a:t>Example: NEG BX</a:t>
            </a:r>
            <a:endParaRPr lang="en-PK" sz="2000" dirty="0"/>
          </a:p>
          <a:p>
            <a:br>
              <a:rPr lang="en-US" dirty="0"/>
            </a:br>
            <a:endParaRPr lang="en-P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5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F8FB7-8464-4023-917B-BEE4A3088063}"/>
              </a:ext>
            </a:extLst>
          </p:cNvPr>
          <p:cNvSpPr/>
          <p:nvPr/>
        </p:nvSpPr>
        <p:spPr>
          <a:xfrm>
            <a:off x="835446" y="644386"/>
            <a:ext cx="1052110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P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B28EA4-60B4-4E61-8681-D8D6C14F2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870911"/>
              </p:ext>
            </p:extLst>
          </p:nvPr>
        </p:nvGraphicFramePr>
        <p:xfrm>
          <a:off x="2200940" y="2546498"/>
          <a:ext cx="6746357" cy="35849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032061">
                  <a:extLst>
                    <a:ext uri="{9D8B030D-6E8A-4147-A177-3AD203B41FA5}">
                      <a16:colId xmlns:a16="http://schemas.microsoft.com/office/drawing/2014/main" val="3912599877"/>
                    </a:ext>
                  </a:extLst>
                </a:gridCol>
                <a:gridCol w="1857148">
                  <a:extLst>
                    <a:ext uri="{9D8B030D-6E8A-4147-A177-3AD203B41FA5}">
                      <a16:colId xmlns:a16="http://schemas.microsoft.com/office/drawing/2014/main" val="3430903123"/>
                    </a:ext>
                  </a:extLst>
                </a:gridCol>
                <a:gridCol w="1857148">
                  <a:extLst>
                    <a:ext uri="{9D8B030D-6E8A-4147-A177-3AD203B41FA5}">
                      <a16:colId xmlns:a16="http://schemas.microsoft.com/office/drawing/2014/main" val="4016533153"/>
                    </a:ext>
                  </a:extLst>
                </a:gridCol>
              </a:tblGrid>
              <a:tr h="437581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S</a:t>
                      </a:r>
                      <a:r>
                        <a:rPr lang="en-US" sz="1200" spc="5">
                          <a:effectLst/>
                        </a:rPr>
                        <a:t>ta</a:t>
                      </a:r>
                      <a:r>
                        <a:rPr lang="en-US" sz="1200" spc="-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eme</a:t>
                      </a:r>
                      <a:r>
                        <a:rPr lang="en-US" sz="1200" spc="-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35" dirty="0">
                          <a:effectLst/>
                        </a:rPr>
                        <a:t>T</a:t>
                      </a:r>
                      <a:r>
                        <a:rPr lang="en-US" sz="1200" spc="-25" dirty="0">
                          <a:effectLst/>
                        </a:rPr>
                        <a:t>r</a:t>
                      </a:r>
                      <a:r>
                        <a:rPr lang="en-US" sz="1200" spc="5" dirty="0">
                          <a:effectLst/>
                        </a:rPr>
                        <a:t>a</a:t>
                      </a:r>
                      <a:r>
                        <a:rPr lang="en-US" sz="1200" spc="-5" dirty="0">
                          <a:effectLst/>
                        </a:rPr>
                        <a:t>n</a:t>
                      </a:r>
                      <a:r>
                        <a:rPr lang="en-US" sz="1200" dirty="0">
                          <a:effectLst/>
                        </a:rPr>
                        <a:t>sl</a:t>
                      </a:r>
                      <a:r>
                        <a:rPr lang="en-US" sz="1200" spc="5" dirty="0">
                          <a:effectLst/>
                        </a:rPr>
                        <a:t>at</a:t>
                      </a:r>
                      <a:r>
                        <a:rPr lang="en-US" sz="1200" spc="-5" dirty="0">
                          <a:effectLst/>
                        </a:rPr>
                        <a:t>i</a:t>
                      </a:r>
                      <a:r>
                        <a:rPr lang="en-US" sz="1200" dirty="0">
                          <a:effectLst/>
                        </a:rPr>
                        <a:t>on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24761"/>
                  </a:ext>
                </a:extLst>
              </a:tr>
              <a:tr h="579416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 =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7630" marR="139509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 dirty="0">
                          <a:effectLst/>
                        </a:rPr>
                        <a:t>M</a:t>
                      </a:r>
                      <a:r>
                        <a:rPr lang="en-US" sz="1200" spc="-30" dirty="0">
                          <a:effectLst/>
                        </a:rPr>
                        <a:t>O</a:t>
                      </a:r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spc="-5" dirty="0">
                          <a:effectLst/>
                        </a:rPr>
                        <a:t> A</a:t>
                      </a:r>
                      <a:r>
                        <a:rPr lang="en-US" sz="1200" dirty="0">
                          <a:effectLst/>
                        </a:rPr>
                        <a:t>X,</a:t>
                      </a:r>
                      <a:r>
                        <a:rPr lang="en-US" sz="1200" spc="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 </a:t>
                      </a:r>
                    </a:p>
                    <a:p>
                      <a:pPr marL="87630" marR="139509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 dirty="0">
                          <a:effectLst/>
                        </a:rPr>
                        <a:t>M</a:t>
                      </a:r>
                      <a:r>
                        <a:rPr lang="en-US" sz="1200" spc="-30" dirty="0">
                          <a:effectLst/>
                        </a:rPr>
                        <a:t>O</a:t>
                      </a:r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B,</a:t>
                      </a:r>
                      <a:r>
                        <a:rPr lang="en-US" sz="1200" spc="5" dirty="0">
                          <a:effectLst/>
                        </a:rPr>
                        <a:t> </a:t>
                      </a:r>
                      <a:r>
                        <a:rPr lang="en-US" sz="1200" spc="-5" dirty="0">
                          <a:effectLst/>
                        </a:rPr>
                        <a:t>A</a:t>
                      </a:r>
                      <a:r>
                        <a:rPr lang="en-US" sz="1200" dirty="0">
                          <a:effectLst/>
                        </a:rPr>
                        <a:t>X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159149"/>
                  </a:ext>
                </a:extLst>
              </a:tr>
              <a:tr h="367165">
                <a:tc rowSpan="6"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 =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5 – A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M</a:t>
                      </a:r>
                      <a:r>
                        <a:rPr lang="en-US" sz="1200" spc="-30">
                          <a:effectLst/>
                        </a:rPr>
                        <a:t>O</a:t>
                      </a:r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spc="-5">
                          <a:effectLst/>
                        </a:rPr>
                        <a:t> A</a:t>
                      </a:r>
                      <a:r>
                        <a:rPr lang="en-US" sz="1200">
                          <a:effectLst/>
                        </a:rPr>
                        <a:t>X,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5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837499"/>
                  </a:ext>
                </a:extLst>
              </a:tr>
              <a:tr h="282667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UB A</a:t>
                      </a:r>
                      <a:r>
                        <a:rPr lang="en-US" sz="1200" spc="-5">
                          <a:effectLst/>
                        </a:rPr>
                        <a:t>X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6687694"/>
                  </a:ext>
                </a:extLst>
              </a:tr>
              <a:tr h="283672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M</a:t>
                      </a:r>
                      <a:r>
                        <a:rPr lang="en-US" sz="1200" spc="-30">
                          <a:effectLst/>
                        </a:rPr>
                        <a:t>O</a:t>
                      </a:r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spc="-5">
                          <a:effectLst/>
                        </a:rPr>
                        <a:t> A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en-US" sz="1200" spc="10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AX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9106541"/>
                  </a:ext>
                </a:extLst>
              </a:tr>
              <a:tr h="283672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OR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28128192"/>
                  </a:ext>
                </a:extLst>
              </a:tr>
              <a:tr h="282667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</a:t>
                      </a:r>
                      <a:r>
                        <a:rPr lang="en-US" sz="1200" spc="5">
                          <a:effectLst/>
                        </a:rPr>
                        <a:t>E</a:t>
                      </a:r>
                      <a:r>
                        <a:rPr lang="en-US" sz="1200">
                          <a:effectLst/>
                        </a:rPr>
                        <a:t>G A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23241039"/>
                  </a:ext>
                </a:extLst>
              </a:tr>
              <a:tr h="352076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A</a:t>
                      </a:r>
                      <a:r>
                        <a:rPr lang="en-US" sz="1200">
                          <a:effectLst/>
                        </a:rPr>
                        <a:t>DD</a:t>
                      </a:r>
                      <a:r>
                        <a:rPr lang="en-US" sz="1200" spc="-5">
                          <a:effectLst/>
                        </a:rPr>
                        <a:t> A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5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48461845"/>
                  </a:ext>
                </a:extLst>
              </a:tr>
              <a:tr h="716077"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 =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 – A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7630" marR="1395095" algn="just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5" dirty="0">
                          <a:effectLst/>
                        </a:rPr>
                        <a:t>M</a:t>
                      </a:r>
                      <a:r>
                        <a:rPr lang="en-US" sz="1200" spc="-30" dirty="0">
                          <a:effectLst/>
                        </a:rPr>
                        <a:t>O</a:t>
                      </a:r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spc="-5" dirty="0">
                          <a:effectLst/>
                        </a:rPr>
                        <a:t> A</a:t>
                      </a:r>
                      <a:r>
                        <a:rPr lang="en-US" sz="1200" dirty="0">
                          <a:effectLst/>
                        </a:rPr>
                        <a:t>X,</a:t>
                      </a:r>
                      <a:r>
                        <a:rPr lang="en-US" sz="1200" spc="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</a:t>
                      </a:r>
                    </a:p>
                    <a:p>
                      <a:pPr marL="87630" marR="1395095" algn="just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5" dirty="0">
                          <a:effectLst/>
                        </a:rPr>
                        <a:t>S</a:t>
                      </a:r>
                      <a:r>
                        <a:rPr lang="en-US" sz="1200" dirty="0">
                          <a:effectLst/>
                        </a:rPr>
                        <a:t>UB A</a:t>
                      </a:r>
                      <a:r>
                        <a:rPr lang="en-US" sz="1200" spc="-5" dirty="0">
                          <a:effectLst/>
                        </a:rPr>
                        <a:t>X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en-US" sz="1200" spc="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  </a:t>
                      </a:r>
                    </a:p>
                    <a:p>
                      <a:pPr marL="87630" marR="1395095" algn="just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5" dirty="0">
                          <a:effectLst/>
                        </a:rPr>
                        <a:t>M</a:t>
                      </a:r>
                      <a:r>
                        <a:rPr lang="en-US" sz="1200" spc="-30" dirty="0">
                          <a:effectLst/>
                        </a:rPr>
                        <a:t>O</a:t>
                      </a:r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spc="-5" dirty="0">
                          <a:effectLst/>
                        </a:rPr>
                        <a:t> A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en-US" sz="1200" spc="5" dirty="0">
                          <a:effectLst/>
                        </a:rPr>
                        <a:t> </a:t>
                      </a:r>
                      <a:r>
                        <a:rPr lang="en-US" sz="1200" spc="-5" dirty="0">
                          <a:effectLst/>
                        </a:rPr>
                        <a:t>A</a:t>
                      </a:r>
                      <a:r>
                        <a:rPr lang="en-US" sz="1200" dirty="0">
                          <a:effectLst/>
                        </a:rPr>
                        <a:t>X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8369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DD156C0-3004-4B3E-A503-31267583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446" y="125515"/>
            <a:ext cx="9977866" cy="2172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50632" tIns="876024" rIns="837936" bIns="1777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Translation of High-level Language to Assembly Language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Consider instructions: MOV, ADD, SUB, INC, DEC, NEG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A and B are two-word variables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Translate statements into assembly language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44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AD5359-D436-49B6-9BF1-9E335F024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406606"/>
              </p:ext>
            </p:extLst>
          </p:nvPr>
        </p:nvGraphicFramePr>
        <p:xfrm>
          <a:off x="1419951" y="4189305"/>
          <a:ext cx="8239727" cy="21419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56862">
                  <a:extLst>
                    <a:ext uri="{9D8B030D-6E8A-4147-A177-3AD203B41FA5}">
                      <a16:colId xmlns:a16="http://schemas.microsoft.com/office/drawing/2014/main" val="1956037801"/>
                    </a:ext>
                  </a:extLst>
                </a:gridCol>
                <a:gridCol w="7082865">
                  <a:extLst>
                    <a:ext uri="{9D8B030D-6E8A-4147-A177-3AD203B41FA5}">
                      <a16:colId xmlns:a16="http://schemas.microsoft.com/office/drawing/2014/main" val="2908863940"/>
                    </a:ext>
                  </a:extLst>
                </a:gridCol>
              </a:tblGrid>
              <a:tr h="344551"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el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escr</a:t>
                      </a:r>
                      <a:r>
                        <a:rPr lang="en-US" sz="1200" spc="-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p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 spc="-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8347775"/>
                  </a:ext>
                </a:extLst>
              </a:tr>
              <a:tr h="346932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SM</a:t>
                      </a:r>
                      <a:r>
                        <a:rPr lang="en-US" sz="1200" spc="-5">
                          <a:effectLst/>
                        </a:rPr>
                        <a:t>A</a:t>
                      </a:r>
                      <a:r>
                        <a:rPr lang="en-US" sz="1200" spc="5">
                          <a:effectLst/>
                        </a:rPr>
                        <a:t>L</a:t>
                      </a:r>
                      <a:r>
                        <a:rPr lang="en-US" sz="1200">
                          <a:effectLst/>
                        </a:rPr>
                        <a:t>L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C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seg</a:t>
                      </a:r>
                      <a:r>
                        <a:rPr lang="en-US" sz="1200" spc="-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e</a:t>
                      </a:r>
                      <a:r>
                        <a:rPr lang="en-US" sz="1200" spc="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a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seg</a:t>
                      </a:r>
                      <a:r>
                        <a:rPr lang="en-US" sz="1200" spc="-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e</a:t>
                      </a:r>
                      <a:r>
                        <a:rPr lang="en-US" sz="1200" spc="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0267608"/>
                  </a:ext>
                </a:extLst>
              </a:tr>
              <a:tr h="356459"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ME</a:t>
                      </a:r>
                      <a:r>
                        <a:rPr lang="en-US" sz="1200">
                          <a:effectLst/>
                        </a:rPr>
                        <a:t>D</a:t>
                      </a:r>
                      <a:r>
                        <a:rPr lang="en-US" sz="1200" spc="-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UM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C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mo</a:t>
                      </a:r>
                      <a:r>
                        <a:rPr lang="en-US" sz="1200" spc="-5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han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seg</a:t>
                      </a:r>
                      <a:r>
                        <a:rPr lang="en-US" sz="1200" spc="-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e</a:t>
                      </a:r>
                      <a:r>
                        <a:rPr lang="en-US" sz="1200" spc="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a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se</a:t>
                      </a:r>
                      <a:r>
                        <a:rPr lang="en-US" sz="1200" spc="-5">
                          <a:effectLst/>
                        </a:rPr>
                        <a:t>g</a:t>
                      </a:r>
                      <a:r>
                        <a:rPr lang="en-US" sz="1200">
                          <a:effectLst/>
                        </a:rPr>
                        <a:t>ment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83409166"/>
                  </a:ext>
                </a:extLst>
              </a:tr>
              <a:tr h="358046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C</a:t>
                      </a:r>
                      <a:r>
                        <a:rPr lang="en-US" sz="1200">
                          <a:effectLst/>
                        </a:rPr>
                        <a:t>OM</a:t>
                      </a:r>
                      <a:r>
                        <a:rPr lang="en-US" sz="1200" spc="5">
                          <a:effectLst/>
                        </a:rPr>
                        <a:t>P</a:t>
                      </a:r>
                      <a:r>
                        <a:rPr lang="en-US" sz="1200" spc="-5">
                          <a:effectLst/>
                        </a:rPr>
                        <a:t>AC</a:t>
                      </a:r>
                      <a:r>
                        <a:rPr lang="en-US" sz="1200">
                          <a:effectLst/>
                        </a:rPr>
                        <a:t>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-5">
                          <a:effectLst/>
                        </a:rPr>
                        <a:t>C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seg</a:t>
                      </a:r>
                      <a:r>
                        <a:rPr lang="en-US" sz="1200" spc="-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e</a:t>
                      </a:r>
                      <a:r>
                        <a:rPr lang="en-US" sz="1200" spc="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t,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a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mo</a:t>
                      </a:r>
                      <a:r>
                        <a:rPr lang="en-US" sz="1200" spc="-5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han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</a:t>
                      </a:r>
                      <a:r>
                        <a:rPr lang="en-US" sz="1200" spc="-10">
                          <a:effectLst/>
                        </a:rPr>
                        <a:t>e</a:t>
                      </a:r>
                      <a:r>
                        <a:rPr lang="en-US" sz="1200" spc="-5">
                          <a:effectLst/>
                        </a:rPr>
                        <a:t>g</a:t>
                      </a:r>
                      <a:r>
                        <a:rPr lang="en-US" sz="1200">
                          <a:effectLst/>
                        </a:rPr>
                        <a:t>ment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02975650"/>
                  </a:ext>
                </a:extLst>
              </a:tr>
              <a:tr h="356459">
                <a:tc>
                  <a:txBody>
                    <a:bodyPr/>
                    <a:lstStyle/>
                    <a:p>
                      <a:pPr marL="89535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L</a:t>
                      </a:r>
                      <a:r>
                        <a:rPr lang="en-US" sz="1200" spc="-5">
                          <a:effectLst/>
                        </a:rPr>
                        <a:t>A</a:t>
                      </a:r>
                      <a:r>
                        <a:rPr lang="en-US" sz="1200">
                          <a:effectLst/>
                        </a:rPr>
                        <a:t>RGE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Both </a:t>
                      </a:r>
                      <a:r>
                        <a:rPr lang="en-US" sz="1200" spc="-5">
                          <a:effectLst/>
                        </a:rPr>
                        <a:t>c</a:t>
                      </a:r>
                      <a:r>
                        <a:rPr lang="en-US" sz="1200">
                          <a:effectLst/>
                        </a:rPr>
                        <a:t>o</a:t>
                      </a:r>
                      <a:r>
                        <a:rPr lang="en-US" sz="1200" spc="-5">
                          <a:effectLst/>
                        </a:rPr>
                        <a:t>d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a</a:t>
                      </a:r>
                      <a:r>
                        <a:rPr lang="en-US" sz="1200">
                          <a:effectLst/>
                        </a:rPr>
                        <a:t>nd</a:t>
                      </a:r>
                      <a:r>
                        <a:rPr lang="en-US" sz="1200" spc="-5">
                          <a:effectLst/>
                        </a:rPr>
                        <a:t> d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a </a:t>
                      </a:r>
                      <a:r>
                        <a:rPr lang="en-US" sz="1200" spc="5">
                          <a:effectLst/>
                        </a:rPr>
                        <a:t>i</a:t>
                      </a:r>
                      <a:r>
                        <a:rPr lang="en-US" sz="1200">
                          <a:effectLst/>
                        </a:rPr>
                        <a:t>n mo</a:t>
                      </a:r>
                      <a:r>
                        <a:rPr lang="en-US" sz="1200" spc="-5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e </a:t>
                      </a:r>
                      <a:r>
                        <a:rPr lang="en-US" sz="1200" spc="5">
                          <a:effectLst/>
                        </a:rPr>
                        <a:t>t</a:t>
                      </a:r>
                      <a:r>
                        <a:rPr lang="en-US" sz="1200">
                          <a:effectLst/>
                        </a:rPr>
                        <a:t>han one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seg</a:t>
                      </a:r>
                      <a:r>
                        <a:rPr lang="en-US" sz="1200" spc="-5">
                          <a:effectLst/>
                        </a:rPr>
                        <a:t>m</a:t>
                      </a:r>
                      <a:r>
                        <a:rPr lang="en-US" sz="1200">
                          <a:effectLst/>
                        </a:rPr>
                        <a:t>e</a:t>
                      </a:r>
                      <a:r>
                        <a:rPr lang="en-US" sz="1200" spc="5">
                          <a:effectLst/>
                        </a:rPr>
                        <a:t>n</a:t>
                      </a:r>
                      <a:r>
                        <a:rPr lang="en-US" sz="1200">
                          <a:effectLst/>
                        </a:rPr>
                        <a:t>ts.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No a</a:t>
                      </a:r>
                      <a:r>
                        <a:rPr lang="en-US" sz="1200" spc="-5">
                          <a:effectLst/>
                        </a:rPr>
                        <a:t>rr</a:t>
                      </a:r>
                      <a:r>
                        <a:rPr lang="en-US" sz="1200">
                          <a:effectLst/>
                        </a:rPr>
                        <a:t>ay </a:t>
                      </a:r>
                      <a:r>
                        <a:rPr lang="en-US" sz="1200" spc="-5">
                          <a:effectLst/>
                        </a:rPr>
                        <a:t>l</a:t>
                      </a:r>
                      <a:r>
                        <a:rPr lang="en-US" sz="1200">
                          <a:effectLst/>
                        </a:rPr>
                        <a:t>ar</a:t>
                      </a:r>
                      <a:r>
                        <a:rPr lang="en-US" sz="1200" spc="-5">
                          <a:effectLst/>
                        </a:rPr>
                        <a:t>g</a:t>
                      </a:r>
                      <a:r>
                        <a:rPr lang="en-US" sz="1200">
                          <a:effectLst/>
                        </a:rPr>
                        <a:t>er than</a:t>
                      </a:r>
                      <a:r>
                        <a:rPr lang="en-US" sz="1200" spc="15">
                          <a:effectLst/>
                        </a:rPr>
                        <a:t> </a:t>
                      </a:r>
                      <a:r>
                        <a:rPr lang="en-US" sz="1200" spc="-5">
                          <a:effectLst/>
                        </a:rPr>
                        <a:t>64</a:t>
                      </a:r>
                      <a:r>
                        <a:rPr lang="en-US" sz="1200">
                          <a:effectLst/>
                        </a:rPr>
                        <a:t>KB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312490"/>
                  </a:ext>
                </a:extLst>
              </a:tr>
              <a:tr h="379482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spc="5">
                          <a:effectLst/>
                        </a:rPr>
                        <a:t>H</a:t>
                      </a:r>
                      <a:r>
                        <a:rPr lang="en-US" sz="1200">
                          <a:effectLst/>
                        </a:rPr>
                        <a:t>UGE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Both</a:t>
                      </a:r>
                      <a:r>
                        <a:rPr lang="en-US" sz="1200" spc="-6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co</a:t>
                      </a:r>
                      <a:r>
                        <a:rPr lang="en-US" sz="1200" spc="-10" dirty="0">
                          <a:effectLst/>
                        </a:rPr>
                        <a:t>d</a:t>
                      </a:r>
                      <a:r>
                        <a:rPr lang="en-US" sz="1200" dirty="0">
                          <a:effectLst/>
                        </a:rPr>
                        <a:t>e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</a:t>
                      </a:r>
                      <a:r>
                        <a:rPr lang="en-US" sz="1200" spc="5" dirty="0">
                          <a:effectLst/>
                        </a:rPr>
                        <a:t>n</a:t>
                      </a:r>
                      <a:r>
                        <a:rPr lang="en-US" sz="1200" dirty="0">
                          <a:effectLst/>
                        </a:rPr>
                        <a:t>d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spc="-5" dirty="0">
                          <a:effectLst/>
                        </a:rPr>
                        <a:t>d</a:t>
                      </a:r>
                      <a:r>
                        <a:rPr lang="en-US" sz="1200" dirty="0">
                          <a:effectLst/>
                        </a:rPr>
                        <a:t>a</a:t>
                      </a:r>
                      <a:r>
                        <a:rPr lang="en-US" sz="1200" spc="5" dirty="0">
                          <a:effectLst/>
                        </a:rPr>
                        <a:t>t</a:t>
                      </a:r>
                      <a:r>
                        <a:rPr lang="en-US" sz="1200" dirty="0">
                          <a:effectLst/>
                        </a:rPr>
                        <a:t>a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in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m</a:t>
                      </a:r>
                      <a:r>
                        <a:rPr lang="en-US" sz="1200" spc="-5" dirty="0">
                          <a:effectLst/>
                        </a:rPr>
                        <a:t>or</a:t>
                      </a:r>
                      <a:r>
                        <a:rPr lang="en-US" sz="1200" dirty="0">
                          <a:effectLst/>
                        </a:rPr>
                        <a:t>e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than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one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seg</a:t>
                      </a:r>
                      <a:r>
                        <a:rPr lang="en-US" sz="1200" spc="-5" dirty="0">
                          <a:effectLst/>
                        </a:rPr>
                        <a:t>m</a:t>
                      </a:r>
                      <a:r>
                        <a:rPr lang="en-US" sz="1200" dirty="0">
                          <a:effectLst/>
                        </a:rPr>
                        <a:t>e</a:t>
                      </a:r>
                      <a:r>
                        <a:rPr lang="en-US" sz="1200" spc="5" dirty="0">
                          <a:effectLst/>
                        </a:rPr>
                        <a:t>n</a:t>
                      </a:r>
                      <a:r>
                        <a:rPr lang="en-US" sz="1200" dirty="0">
                          <a:effectLst/>
                        </a:rPr>
                        <a:t>ts.</a:t>
                      </a:r>
                      <a:r>
                        <a:rPr lang="en-US" sz="1200" spc="-65" dirty="0">
                          <a:effectLst/>
                        </a:rPr>
                        <a:t> </a:t>
                      </a:r>
                      <a:r>
                        <a:rPr lang="en-US" sz="1200" spc="-5" dirty="0">
                          <a:effectLst/>
                        </a:rPr>
                        <a:t>Arr</a:t>
                      </a:r>
                      <a:r>
                        <a:rPr lang="en-US" sz="1200" dirty="0">
                          <a:effectLst/>
                        </a:rPr>
                        <a:t>ay</a:t>
                      </a:r>
                      <a:r>
                        <a:rPr lang="en-US" sz="1200" spc="-5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may</a:t>
                      </a:r>
                      <a:r>
                        <a:rPr lang="en-US" sz="1200" spc="-6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be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la</a:t>
                      </a:r>
                      <a:r>
                        <a:rPr lang="en-US" sz="1200" spc="-5" dirty="0">
                          <a:effectLst/>
                        </a:rPr>
                        <a:t>rg</a:t>
                      </a:r>
                      <a:r>
                        <a:rPr lang="en-US" sz="1200" spc="15" dirty="0">
                          <a:effectLst/>
                        </a:rPr>
                        <a:t>e</a:t>
                      </a:r>
                      <a:r>
                        <a:rPr lang="en-US" sz="1200" dirty="0">
                          <a:effectLst/>
                        </a:rPr>
                        <a:t>r</a:t>
                      </a:r>
                      <a:r>
                        <a:rPr lang="en-US" sz="1200" spc="-6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th</a:t>
                      </a:r>
                      <a:r>
                        <a:rPr lang="en-US" sz="1200" spc="15" dirty="0">
                          <a:effectLst/>
                        </a:rPr>
                        <a:t>a</a:t>
                      </a:r>
                      <a:r>
                        <a:rPr lang="en-US" sz="1200" dirty="0">
                          <a:effectLst/>
                        </a:rPr>
                        <a:t>n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spc="-5" dirty="0">
                          <a:effectLst/>
                        </a:rPr>
                        <a:t>64</a:t>
                      </a:r>
                      <a:r>
                        <a:rPr lang="en-US" sz="1200" dirty="0">
                          <a:effectLst/>
                        </a:rPr>
                        <a:t>KB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5072754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69AB37F-BFD6-41E6-8F7E-7ED0A0F1D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6" y="526765"/>
            <a:ext cx="9164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Program Structure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Machine programs consists of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Code: Contains a program’s instructions.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Syntax: .CODE name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Stack: A block of memory to store stack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Syntax: .STACK  size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Data: Contains all variable definitions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Syntax: .DATA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Memory Models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Determines the size of data and code a program can have.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Syntax: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.MODEL     </a:t>
            </a:r>
            <a:r>
              <a:rPr kumimoji="0" lang="en-US" altLang="en-P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memory_model</a:t>
            </a:r>
            <a:endParaRPr kumimoji="0" lang="en-US" altLang="en-PK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5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4D99D-C099-4D9C-B995-78608E61E14B}"/>
              </a:ext>
            </a:extLst>
          </p:cNvPr>
          <p:cNvSpPr/>
          <p:nvPr/>
        </p:nvSpPr>
        <p:spPr>
          <a:xfrm>
            <a:off x="1458433" y="1150748"/>
            <a:ext cx="6096000" cy="43858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0">
              <a:spcBef>
                <a:spcPts val="130"/>
              </a:spcBef>
              <a:spcAft>
                <a:spcPts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Format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000" b="1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Aft>
                <a:spcPts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00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100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TA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;d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efin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ere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5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 PROC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;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ere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00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NDP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;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other pr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 go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0">
              <a:spcBef>
                <a:spcPts val="210"/>
              </a:spcBef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 MA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0873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1088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Office Theme</vt:lpstr>
      <vt:lpstr>Computer Organization &amp; Assembly Language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Asim Munir</dc:creator>
  <cp:lastModifiedBy>Asim Munir</cp:lastModifiedBy>
  <cp:revision>12</cp:revision>
  <dcterms:created xsi:type="dcterms:W3CDTF">2025-02-23T12:40:10Z</dcterms:created>
  <dcterms:modified xsi:type="dcterms:W3CDTF">2026-03-11T06:53:56Z</dcterms:modified>
</cp:coreProperties>
</file>